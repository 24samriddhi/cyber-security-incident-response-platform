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Arial"/>
              </a:defRPr>
            </a:pPr>
            <a:r>
              <a:rPr sz="1400" b="0" i="0" u="none" strike="noStrike">
                <a:solidFill>
                  <a:srgbClr val="FFFFFF"/>
                </a:solidFill>
                <a:latin typeface="Arial"/>
              </a:rPr>
              <a:t>Incidents by Severity</a:t>
            </a:r>
          </a:p>
        </c:rich>
      </c:tx>
      <c:layout/>
      <c:overlay val="0"/>
    </c:title>
    <c:autoTitleDeleted val="0"/>
    <c:plotArea>
      <c:layout/>
      <c:barChart>
        <c:barDir val="col"/>
        <c:grouping val="clustered"/>
        <c:varyColors val="0"/>
        <c:ser>
          <c:idx val="0"/>
          <c:order val="0"/>
          <c:tx>
            <c:strRef>
              <c:f>Sheet1!$B$1</c:f>
              <c:strCache>
                <c:ptCount val="1"/>
                <c:pt idx="0">
                  <c:v>Incidents (last 24h)</c:v>
                </c:pt>
              </c:strCache>
            </c:strRef>
          </c:tx>
          <c:spPr>
            <a:solidFill>
              <a:srgbClr val="4A90D9"/>
            </a:solidFill>
            <a:effectLst/>
          </c:spPr>
          <c:invertIfNegative val="0"/>
          <c:dLbls>
            <c:numFmt formatCode="#,##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Critical</c:v>
                  </c:pt>
                  <c:pt idx="1">
                    <c:v>High</c:v>
                  </c:pt>
                  <c:pt idx="2">
                    <c:v>Medium</c:v>
                  </c:pt>
                  <c:pt idx="3">
                    <c:v>Low</c:v>
                  </c:pt>
                </c:lvl>
              </c:multiLvlStrCache>
            </c:multiLvlStrRef>
          </c:cat>
          <c:val>
            <c:numRef>
              <c:f>Sheet1!$B$2:$B$5</c:f>
              <c:numCache>
                <c:formatCode>General</c:formatCode>
                <c:ptCount val="4"/>
                <c:pt idx="0">
                  <c:v>3</c:v>
                </c:pt>
                <c:pt idx="1">
                  <c:v>9</c:v>
                </c:pt>
                <c:pt idx="2">
                  <c:v>14</c:v>
                </c:pt>
                <c:pt idx="3">
                  <c:v>6</c:v>
                </c:pt>
              </c:numCache>
            </c:numRef>
          </c:val>
        </c:ser>
        <c:dLbls>
          <c:numFmt formatCode="#,##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FB3C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1F2C4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FB3C8"/>
                </a:solidFill>
                <a:latin typeface="Arial"/>
              </a:defRPr>
            </a:pPr>
            <a:endParaRPr lang="en-US"/>
          </a:p>
        </c:txPr>
        <c:crossAx val="2094734554"/>
        <c:crosses val="autoZero"/>
        <c:crossBetween val="between"/>
      </c:valAx>
      <c:spPr>
        <a:solidFill>
          <a:srgbClr val="141F30"/>
        </a:solidFill>
        <a:ln>
          <a:noFill/>
        </a:ln>
        <a:effectLst/>
      </c:spPr>
    </c:plotArea>
    <c:plotVisOnly val="1"/>
    <c:dispBlanksAs val="span"/>
  </c:chart>
  <c:spPr>
    <a:solidFill>
      <a:srgbClr val="141F30"/>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image" Target="../media/image-3-1.png"/><Relationship Id="rId4" Type="http://schemas.openxmlformats.org/officeDocument/2006/relationships/image" Target="../media/image-3-1.png"/><Relationship Id="rId5" Type="http://schemas.openxmlformats.org/officeDocument/2006/relationships/image" Target="../media/image-3-1.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220"/>
          </a:solidFill>
          <a:ln/>
        </p:spPr>
      </p:sp>
      <p:sp>
        <p:nvSpPr>
          <p:cNvPr id="3" name="Shape 1"/>
          <p:cNvSpPr/>
          <p:nvPr/>
        </p:nvSpPr>
        <p:spPr>
          <a:xfrm>
            <a:off x="8686800" y="-1828800"/>
            <a:ext cx="6400800" cy="6400800"/>
          </a:xfrm>
          <a:prstGeom prst="ellipse">
            <a:avLst/>
          </a:prstGeom>
          <a:solidFill>
            <a:srgbClr val="1B2740">
              <a:alpha val="60000"/>
            </a:srgbClr>
          </a:solidFill>
          <a:ln/>
        </p:spPr>
      </p:sp>
      <p:sp>
        <p:nvSpPr>
          <p:cNvPr id="4" name="Shape 2"/>
          <p:cNvSpPr/>
          <p:nvPr/>
        </p:nvSpPr>
        <p:spPr>
          <a:xfrm>
            <a:off x="-2286000" y="4114800"/>
            <a:ext cx="5486400" cy="5486400"/>
          </a:xfrm>
          <a:prstGeom prst="ellipse">
            <a:avLst/>
          </a:prstGeom>
          <a:solidFill>
            <a:srgbClr val="141F30">
              <a:alpha val="70000"/>
            </a:srgbClr>
          </a:solidFill>
          <a:ln/>
        </p:spPr>
      </p:sp>
      <p:pic>
        <p:nvPicPr>
          <p:cNvPr id="5" name="Image 0" descr="icons/bot_accent.png">    </p:cNvPr>
          <p:cNvPicPr>
            <a:picLocks noChangeAspect="1"/>
          </p:cNvPicPr>
          <p:nvPr/>
        </p:nvPicPr>
        <p:blipFill>
          <a:blip r:embed="rId1"/>
          <a:stretch>
            <a:fillRect/>
          </a:stretch>
        </p:blipFill>
        <p:spPr>
          <a:xfrm>
            <a:off x="640080" y="640080"/>
            <a:ext cx="640080" cy="640080"/>
          </a:xfrm>
          <a:prstGeom prst="rect">
            <a:avLst/>
          </a:prstGeom>
        </p:spPr>
      </p:pic>
      <p:sp>
        <p:nvSpPr>
          <p:cNvPr id="6" name="Text 3"/>
          <p:cNvSpPr/>
          <p:nvPr/>
        </p:nvSpPr>
        <p:spPr>
          <a:xfrm>
            <a:off x="1417320" y="713232"/>
            <a:ext cx="6400800" cy="457200"/>
          </a:xfrm>
          <a:prstGeom prst="rect">
            <a:avLst/>
          </a:prstGeom>
          <a:noFill/>
          <a:ln/>
        </p:spPr>
        <p:txBody>
          <a:bodyPr wrap="square" rtlCol="0" anchor="ctr"/>
          <a:lstStyle/>
          <a:p>
            <a:pPr indent="0" marL="0">
              <a:buNone/>
            </a:pPr>
            <a:r>
              <a:rPr lang="en-US" sz="1300" b="1" spc="200" kern="0" dirty="0">
                <a:solidFill>
                  <a:srgbClr val="3DDC97"/>
                </a:solidFill>
              </a:rPr>
              <a:t>CYBER SECURITY HACKATHON SUBMISSION</a:t>
            </a:r>
            <a:endParaRPr lang="en-US" sz="1300" dirty="0"/>
          </a:p>
        </p:txBody>
      </p:sp>
      <p:sp>
        <p:nvSpPr>
          <p:cNvPr id="7" name="Text 4"/>
          <p:cNvSpPr/>
          <p:nvPr/>
        </p:nvSpPr>
        <p:spPr>
          <a:xfrm>
            <a:off x="640080" y="2286000"/>
            <a:ext cx="9601200" cy="1920240"/>
          </a:xfrm>
          <a:prstGeom prst="rect">
            <a:avLst/>
          </a:prstGeom>
          <a:noFill/>
          <a:ln/>
        </p:spPr>
        <p:txBody>
          <a:bodyPr wrap="square" rtlCol="0" anchor="ctr"/>
          <a:lstStyle/>
          <a:p>
            <a:pPr indent="0" marL="0">
              <a:lnSpc>
                <a:spcPct val="105000"/>
              </a:lnSpc>
              <a:buNone/>
            </a:pPr>
            <a:r>
              <a:rPr lang="en-US" sz="4400" b="1" dirty="0">
                <a:solidFill>
                  <a:srgbClr val="FFFFFF"/>
                </a:solidFill>
                <a:latin typeface="Arial" pitchFamily="34" charset="0"/>
                <a:ea typeface="Arial" pitchFamily="34" charset="-122"/>
                <a:cs typeface="Arial" pitchFamily="34" charset="-120"/>
              </a:rPr>
              <a:t>AI-Powered Cyber Security</a:t>
            </a:r>
            <a:endParaRPr lang="en-US" sz="4400" dirty="0"/>
          </a:p>
          <a:p>
            <a:pPr indent="0" marL="0">
              <a:lnSpc>
                <a:spcPct val="105000"/>
              </a:lnSpc>
              <a:buNone/>
            </a:pPr>
            <a:r>
              <a:rPr lang="en-US" sz="4400" b="1" dirty="0">
                <a:solidFill>
                  <a:srgbClr val="FFFFFF"/>
                </a:solidFill>
                <a:latin typeface="Arial" pitchFamily="34" charset="0"/>
                <a:ea typeface="Arial" pitchFamily="34" charset="-122"/>
                <a:cs typeface="Arial" pitchFamily="34" charset="-120"/>
              </a:rPr>
              <a:t>Incident Response Platform</a:t>
            </a:r>
            <a:endParaRPr lang="en-US" sz="4400" dirty="0"/>
          </a:p>
        </p:txBody>
      </p:sp>
      <p:sp>
        <p:nvSpPr>
          <p:cNvPr id="8" name="Text 5"/>
          <p:cNvSpPr/>
          <p:nvPr/>
        </p:nvSpPr>
        <p:spPr>
          <a:xfrm>
            <a:off x="640080" y="4206240"/>
            <a:ext cx="7863840" cy="822960"/>
          </a:xfrm>
          <a:prstGeom prst="rect">
            <a:avLst/>
          </a:prstGeom>
          <a:noFill/>
          <a:ln/>
        </p:spPr>
        <p:txBody>
          <a:bodyPr wrap="square" rtlCol="0" anchor="ctr"/>
          <a:lstStyle/>
          <a:p>
            <a:pPr indent="0" marL="0">
              <a:buNone/>
            </a:pPr>
            <a:r>
              <a:rPr lang="en-US" sz="1600" dirty="0">
                <a:solidFill>
                  <a:srgbClr val="9FB3C8"/>
                </a:solidFill>
                <a:latin typeface="Arial" pitchFamily="34" charset="0"/>
                <a:ea typeface="Arial" pitchFamily="34" charset="-122"/>
                <a:cs typeface="Arial" pitchFamily="34" charset="-120"/>
              </a:rPr>
              <a:t>A modular n8n automation platform that collects, classifies, escalates, and reports on security incidents — with AI triage and human-approved escalation.</a:t>
            </a:r>
            <a:endParaRPr lang="en-US" sz="1600" dirty="0"/>
          </a:p>
        </p:txBody>
      </p:sp>
      <p:sp>
        <p:nvSpPr>
          <p:cNvPr id="9" name="Shape 6"/>
          <p:cNvSpPr/>
          <p:nvPr/>
        </p:nvSpPr>
        <p:spPr>
          <a:xfrm>
            <a:off x="640080" y="5212080"/>
            <a:ext cx="2743200" cy="0"/>
          </a:xfrm>
          <a:prstGeom prst="line">
            <a:avLst/>
          </a:prstGeom>
          <a:noFill/>
          <a:ln w="25400">
            <a:solidFill>
              <a:srgbClr val="3DDC97"/>
            </a:solidFill>
            <a:prstDash val="solid"/>
          </a:ln>
        </p:spPr>
      </p:sp>
      <p:sp>
        <p:nvSpPr>
          <p:cNvPr id="10" name="Text 7"/>
          <p:cNvSpPr/>
          <p:nvPr/>
        </p:nvSpPr>
        <p:spPr>
          <a:xfrm>
            <a:off x="640080" y="5394960"/>
            <a:ext cx="8229600" cy="365760"/>
          </a:xfrm>
          <a:prstGeom prst="rect">
            <a:avLst/>
          </a:prstGeom>
          <a:noFill/>
          <a:ln/>
        </p:spPr>
        <p:txBody>
          <a:bodyPr wrap="square" rtlCol="0" anchor="ctr"/>
          <a:lstStyle/>
          <a:p>
            <a:pPr indent="0" marL="0">
              <a:buNone/>
            </a:pPr>
            <a:r>
              <a:rPr lang="en-US" sz="1200" dirty="0">
                <a:solidFill>
                  <a:srgbClr val="9FB3C8"/>
                </a:solidFill>
              </a:rPr>
              <a:t>Team: KisanSaathi Builders   |   Track: Cyber Security   |   n8n + Groq AI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300" b="1" spc="200" kern="0" dirty="0">
                <a:solidFill>
                  <a:srgbClr val="3DDC97"/>
                </a:solidFill>
                <a:latin typeface="Arial" pitchFamily="34" charset="0"/>
                <a:ea typeface="Arial" pitchFamily="34" charset="-122"/>
                <a:cs typeface="Arial" pitchFamily="34" charset="-120"/>
              </a:rPr>
              <a:t>PROBLEM STATEMENT</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Security teams can't triage alerts fast enough</a:t>
            </a:r>
            <a:endParaRPr lang="en-US" sz="3200" dirty="0"/>
          </a:p>
        </p:txBody>
      </p:sp>
      <p:sp>
        <p:nvSpPr>
          <p:cNvPr id="4" name="Shape 2"/>
          <p:cNvSpPr/>
          <p:nvPr/>
        </p:nvSpPr>
        <p:spPr>
          <a:xfrm>
            <a:off x="548640" y="1737360"/>
            <a:ext cx="3520440" cy="1920240"/>
          </a:xfrm>
          <a:prstGeom prst="roundRect">
            <a:avLst>
              <a:gd name="adj" fmla="val 3810"/>
            </a:avLst>
          </a:prstGeom>
          <a:solidFill>
            <a:srgbClr val="141F30"/>
          </a:solidFill>
          <a:ln/>
        </p:spPr>
      </p:sp>
      <p:sp>
        <p:nvSpPr>
          <p:cNvPr id="5" name="Text 3"/>
          <p:cNvSpPr/>
          <p:nvPr/>
        </p:nvSpPr>
        <p:spPr>
          <a:xfrm>
            <a:off x="822960" y="1920240"/>
            <a:ext cx="3017520" cy="640080"/>
          </a:xfrm>
          <a:prstGeom prst="rect">
            <a:avLst/>
          </a:prstGeom>
          <a:noFill/>
          <a:ln/>
        </p:spPr>
        <p:txBody>
          <a:bodyPr wrap="square" rtlCol="0" anchor="ctr"/>
          <a:lstStyle/>
          <a:p>
            <a:pPr indent="0" marL="0">
              <a:buNone/>
            </a:pPr>
            <a:r>
              <a:rPr lang="en-US" sz="2600" b="1" dirty="0">
                <a:solidFill>
                  <a:srgbClr val="3DDC97"/>
                </a:solidFill>
              </a:rPr>
              <a:t>100s-1000s</a:t>
            </a:r>
            <a:endParaRPr lang="en-US" sz="2600" dirty="0"/>
          </a:p>
        </p:txBody>
      </p:sp>
      <p:sp>
        <p:nvSpPr>
          <p:cNvPr id="6" name="Text 4"/>
          <p:cNvSpPr/>
          <p:nvPr/>
        </p:nvSpPr>
        <p:spPr>
          <a:xfrm>
            <a:off x="822960" y="2606040"/>
            <a:ext cx="3017520" cy="914400"/>
          </a:xfrm>
          <a:prstGeom prst="rect">
            <a:avLst/>
          </a:prstGeom>
          <a:noFill/>
          <a:ln/>
        </p:spPr>
        <p:txBody>
          <a:bodyPr wrap="square" rtlCol="0" anchor="t"/>
          <a:lstStyle/>
          <a:p>
            <a:pPr indent="0" marL="0">
              <a:buNone/>
            </a:pPr>
            <a:r>
              <a:rPr lang="en-US" sz="1300" dirty="0">
                <a:solidFill>
                  <a:srgbClr val="9FB3C8"/>
                </a:solidFill>
              </a:rPr>
              <a:t>of alerts per day across firewalls, IDS, AV, and cloud tools</a:t>
            </a:r>
            <a:endParaRPr lang="en-US" sz="1300" dirty="0"/>
          </a:p>
        </p:txBody>
      </p:sp>
      <p:sp>
        <p:nvSpPr>
          <p:cNvPr id="7" name="Shape 5"/>
          <p:cNvSpPr/>
          <p:nvPr/>
        </p:nvSpPr>
        <p:spPr>
          <a:xfrm>
            <a:off x="4343400" y="1737360"/>
            <a:ext cx="3520440" cy="1920240"/>
          </a:xfrm>
          <a:prstGeom prst="roundRect">
            <a:avLst>
              <a:gd name="adj" fmla="val 3810"/>
            </a:avLst>
          </a:prstGeom>
          <a:solidFill>
            <a:srgbClr val="141F30"/>
          </a:solidFill>
          <a:ln/>
        </p:spPr>
      </p:sp>
      <p:sp>
        <p:nvSpPr>
          <p:cNvPr id="8" name="Text 6"/>
          <p:cNvSpPr/>
          <p:nvPr/>
        </p:nvSpPr>
        <p:spPr>
          <a:xfrm>
            <a:off x="4617720" y="1920240"/>
            <a:ext cx="3017520" cy="640080"/>
          </a:xfrm>
          <a:prstGeom prst="rect">
            <a:avLst/>
          </a:prstGeom>
          <a:noFill/>
          <a:ln/>
        </p:spPr>
        <p:txBody>
          <a:bodyPr wrap="square" rtlCol="0" anchor="ctr"/>
          <a:lstStyle/>
          <a:p>
            <a:pPr indent="0" marL="0">
              <a:buNone/>
            </a:pPr>
            <a:r>
              <a:rPr lang="en-US" sz="2600" b="1" dirty="0">
                <a:solidFill>
                  <a:srgbClr val="3DDC97"/>
                </a:solidFill>
              </a:rPr>
              <a:t>Minutes</a:t>
            </a:r>
            <a:endParaRPr lang="en-US" sz="2600" dirty="0"/>
          </a:p>
        </p:txBody>
      </p:sp>
      <p:sp>
        <p:nvSpPr>
          <p:cNvPr id="9" name="Text 7"/>
          <p:cNvSpPr/>
          <p:nvPr/>
        </p:nvSpPr>
        <p:spPr>
          <a:xfrm>
            <a:off x="4617720" y="2606040"/>
            <a:ext cx="3017520" cy="914400"/>
          </a:xfrm>
          <a:prstGeom prst="rect">
            <a:avLst/>
          </a:prstGeom>
          <a:noFill/>
          <a:ln/>
        </p:spPr>
        <p:txBody>
          <a:bodyPr wrap="square" rtlCol="0" anchor="t"/>
          <a:lstStyle/>
          <a:p>
            <a:pPr indent="0" marL="0">
              <a:buNone/>
            </a:pPr>
            <a:r>
              <a:rPr lang="en-US" sz="1300" dirty="0">
                <a:solidFill>
                  <a:srgbClr val="9FB3C8"/>
                </a:solidFill>
              </a:rPr>
              <a:t>spent per alert on manual reading, classification, and routing</a:t>
            </a:r>
            <a:endParaRPr lang="en-US" sz="1300" dirty="0"/>
          </a:p>
        </p:txBody>
      </p:sp>
      <p:sp>
        <p:nvSpPr>
          <p:cNvPr id="10" name="Shape 8"/>
          <p:cNvSpPr/>
          <p:nvPr/>
        </p:nvSpPr>
        <p:spPr>
          <a:xfrm>
            <a:off x="8138160" y="1737360"/>
            <a:ext cx="3520440" cy="1920240"/>
          </a:xfrm>
          <a:prstGeom prst="roundRect">
            <a:avLst>
              <a:gd name="adj" fmla="val 3810"/>
            </a:avLst>
          </a:prstGeom>
          <a:solidFill>
            <a:srgbClr val="141F30"/>
          </a:solidFill>
          <a:ln/>
        </p:spPr>
      </p:sp>
      <p:sp>
        <p:nvSpPr>
          <p:cNvPr id="11" name="Text 9"/>
          <p:cNvSpPr/>
          <p:nvPr/>
        </p:nvSpPr>
        <p:spPr>
          <a:xfrm>
            <a:off x="8412480" y="1920240"/>
            <a:ext cx="3017520" cy="640080"/>
          </a:xfrm>
          <a:prstGeom prst="rect">
            <a:avLst/>
          </a:prstGeom>
          <a:noFill/>
          <a:ln/>
        </p:spPr>
        <p:txBody>
          <a:bodyPr wrap="square" rtlCol="0" anchor="ctr"/>
          <a:lstStyle/>
          <a:p>
            <a:pPr indent="0" marL="0">
              <a:buNone/>
            </a:pPr>
            <a:r>
              <a:rPr lang="en-US" sz="2600" b="1" dirty="0">
                <a:solidFill>
                  <a:srgbClr val="3DDC97"/>
                </a:solidFill>
              </a:rPr>
              <a:t>Inconsistent</a:t>
            </a:r>
            <a:endParaRPr lang="en-US" sz="2600" dirty="0"/>
          </a:p>
        </p:txBody>
      </p:sp>
      <p:sp>
        <p:nvSpPr>
          <p:cNvPr id="12" name="Text 10"/>
          <p:cNvSpPr/>
          <p:nvPr/>
        </p:nvSpPr>
        <p:spPr>
          <a:xfrm>
            <a:off x="8412480" y="2606040"/>
            <a:ext cx="3017520" cy="914400"/>
          </a:xfrm>
          <a:prstGeom prst="rect">
            <a:avLst/>
          </a:prstGeom>
          <a:noFill/>
          <a:ln/>
        </p:spPr>
        <p:txBody>
          <a:bodyPr wrap="square" rtlCol="0" anchor="t"/>
          <a:lstStyle/>
          <a:p>
            <a:pPr indent="0" marL="0">
              <a:buNone/>
            </a:pPr>
            <a:r>
              <a:rPr lang="en-US" sz="1300" dirty="0">
                <a:solidFill>
                  <a:srgbClr val="9FB3C8"/>
                </a:solidFill>
              </a:rPr>
              <a:t>severity judgment between analysts and shifts</a:t>
            </a:r>
            <a:endParaRPr lang="en-US" sz="1300" dirty="0"/>
          </a:p>
        </p:txBody>
      </p:sp>
      <p:sp>
        <p:nvSpPr>
          <p:cNvPr id="13" name="Shape 11"/>
          <p:cNvSpPr/>
          <p:nvPr/>
        </p:nvSpPr>
        <p:spPr>
          <a:xfrm>
            <a:off x="548640" y="3977640"/>
            <a:ext cx="11064240" cy="1965960"/>
          </a:xfrm>
          <a:prstGeom prst="roundRect">
            <a:avLst>
              <a:gd name="adj" fmla="val 3721"/>
            </a:avLst>
          </a:prstGeom>
          <a:solidFill>
            <a:srgbClr val="1B2740"/>
          </a:solidFill>
          <a:ln/>
        </p:spPr>
      </p:sp>
      <p:pic>
        <p:nvPicPr>
          <p:cNvPr id="14" name="Image 0" descr="icons/problem_accent.png">    </p:cNvPr>
          <p:cNvPicPr>
            <a:picLocks noChangeAspect="1"/>
          </p:cNvPicPr>
          <p:nvPr/>
        </p:nvPicPr>
        <p:blipFill>
          <a:blip r:embed="rId1"/>
          <a:stretch>
            <a:fillRect/>
          </a:stretch>
        </p:blipFill>
        <p:spPr>
          <a:xfrm>
            <a:off x="868680" y="4251960"/>
            <a:ext cx="502920" cy="502920"/>
          </a:xfrm>
          <a:prstGeom prst="rect">
            <a:avLst/>
          </a:prstGeom>
        </p:spPr>
      </p:pic>
      <p:sp>
        <p:nvSpPr>
          <p:cNvPr id="15" name="Text 12"/>
          <p:cNvSpPr/>
          <p:nvPr/>
        </p:nvSpPr>
        <p:spPr>
          <a:xfrm>
            <a:off x="1554480" y="4206240"/>
            <a:ext cx="9692640" cy="1554480"/>
          </a:xfrm>
          <a:prstGeom prst="rect">
            <a:avLst/>
          </a:prstGeom>
          <a:noFill/>
          <a:ln/>
        </p:spPr>
        <p:txBody>
          <a:bodyPr wrap="square" rtlCol="0" anchor="t"/>
          <a:lstStyle/>
          <a:p>
            <a:pPr indent="0" marL="0">
              <a:lnSpc>
                <a:spcPct val="130000"/>
              </a:lnSpc>
              <a:buNone/>
            </a:pPr>
            <a:r>
              <a:rPr lang="en-US" sz="1500" b="1" dirty="0">
                <a:solidFill>
                  <a:srgbClr val="FFFFFF"/>
                </a:solidFill>
              </a:rPr>
              <a:t>The result: </a:t>
            </a:r>
            <a:pPr indent="0" marL="0">
              <a:lnSpc>
                <a:spcPct val="130000"/>
              </a:lnSpc>
              <a:buNone/>
            </a:pPr>
            <a:r>
              <a:rPr lang="en-US" sz="1500" dirty="0">
                <a:solidFill>
                  <a:srgbClr val="9FB3C8"/>
                </a:solidFill>
              </a:rPr>
              <a:t>delayed detection of real threats, alert fatigue, and breaches that go undetected long enough to cause real operational and financial damage. Response speed is one of the strongest predictors of breach cost.</a:t>
            </a:r>
            <a:endParaRPr lang="en-US" sz="1500" dirty="0"/>
          </a:p>
        </p:txBody>
      </p:sp>
      <p:sp>
        <p:nvSpPr>
          <p:cNvPr id="16" name="Text 13"/>
          <p:cNvSpPr/>
          <p:nvPr/>
        </p:nvSpPr>
        <p:spPr>
          <a:xfrm>
            <a:off x="11338560" y="6492240"/>
            <a:ext cx="731520" cy="274320"/>
          </a:xfrm>
          <a:prstGeom prst="rect">
            <a:avLst/>
          </a:prstGeom>
          <a:noFill/>
          <a:ln/>
        </p:spPr>
        <p:txBody>
          <a:bodyPr wrap="square" rtlCol="0" anchor="ctr"/>
          <a:lstStyle/>
          <a:p>
            <a:pPr algn="r" indent="0" marL="0">
              <a:buNone/>
            </a:pPr>
            <a:r>
              <a:rPr lang="en-US" sz="1000" dirty="0">
                <a:solidFill>
                  <a:srgbClr val="9FB3C8"/>
                </a:solidFill>
              </a:rPr>
              <a:t>02 / 12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300" b="1" spc="200" kern="0" dirty="0">
                <a:solidFill>
                  <a:srgbClr val="3DDC97"/>
                </a:solidFill>
                <a:latin typeface="Arial" pitchFamily="34" charset="0"/>
                <a:ea typeface="Arial" pitchFamily="34" charset="-122"/>
                <a:cs typeface="Arial" pitchFamily="34" charset="-120"/>
              </a:rPr>
              <a:t>PROBLEM ANALYSIS</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Who this platform serves</a:t>
            </a:r>
            <a:endParaRPr lang="en-US" sz="3200" dirty="0"/>
          </a:p>
        </p:txBody>
      </p:sp>
      <p:sp>
        <p:nvSpPr>
          <p:cNvPr id="4" name="Shape 2"/>
          <p:cNvSpPr/>
          <p:nvPr/>
        </p:nvSpPr>
        <p:spPr>
          <a:xfrm>
            <a:off x="548640" y="1828800"/>
            <a:ext cx="2121408" cy="3291840"/>
          </a:xfrm>
          <a:prstGeom prst="roundRect">
            <a:avLst>
              <a:gd name="adj" fmla="val 3448"/>
            </a:avLst>
          </a:prstGeom>
          <a:solidFill>
            <a:srgbClr val="141F30"/>
          </a:solidFill>
          <a:ln/>
        </p:spPr>
      </p:sp>
      <p:pic>
        <p:nvPicPr>
          <p:cNvPr id="5" name="Image 0" descr="icons/stakeholders_accent.png">    </p:cNvPr>
          <p:cNvPicPr>
            <a:picLocks noChangeAspect="1"/>
          </p:cNvPicPr>
          <p:nvPr/>
        </p:nvPicPr>
        <p:blipFill>
          <a:blip r:embed="rId1"/>
          <a:stretch>
            <a:fillRect/>
          </a:stretch>
        </p:blipFill>
        <p:spPr>
          <a:xfrm>
            <a:off x="1335024" y="2148840"/>
            <a:ext cx="548640" cy="548640"/>
          </a:xfrm>
          <a:prstGeom prst="rect">
            <a:avLst/>
          </a:prstGeom>
        </p:spPr>
      </p:pic>
      <p:sp>
        <p:nvSpPr>
          <p:cNvPr id="6" name="Text 3"/>
          <p:cNvSpPr/>
          <p:nvPr/>
        </p:nvSpPr>
        <p:spPr>
          <a:xfrm>
            <a:off x="685800" y="2880360"/>
            <a:ext cx="1847088" cy="548640"/>
          </a:xfrm>
          <a:prstGeom prst="rect">
            <a:avLst/>
          </a:prstGeom>
          <a:noFill/>
          <a:ln/>
        </p:spPr>
        <p:txBody>
          <a:bodyPr wrap="square" rtlCol="0" anchor="ctr"/>
          <a:lstStyle/>
          <a:p>
            <a:pPr algn="ctr" indent="0" marL="0">
              <a:buNone/>
            </a:pPr>
            <a:r>
              <a:rPr lang="en-US" sz="1400" b="1" dirty="0">
                <a:solidFill>
                  <a:srgbClr val="FFFFFF"/>
                </a:solidFill>
              </a:rPr>
              <a:t>SOC Analysts</a:t>
            </a:r>
            <a:endParaRPr lang="en-US" sz="1400" dirty="0"/>
          </a:p>
        </p:txBody>
      </p:sp>
      <p:sp>
        <p:nvSpPr>
          <p:cNvPr id="7" name="Text 4"/>
          <p:cNvSpPr/>
          <p:nvPr/>
        </p:nvSpPr>
        <p:spPr>
          <a:xfrm>
            <a:off x="685800" y="3429000"/>
            <a:ext cx="1847088" cy="1463040"/>
          </a:xfrm>
          <a:prstGeom prst="rect">
            <a:avLst/>
          </a:prstGeom>
          <a:noFill/>
          <a:ln/>
        </p:spPr>
        <p:txBody>
          <a:bodyPr wrap="square" rtlCol="0" anchor="t"/>
          <a:lstStyle/>
          <a:p>
            <a:pPr algn="ctr" indent="0" marL="0">
              <a:buNone/>
            </a:pPr>
            <a:r>
              <a:rPr lang="en-US" sz="1150" dirty="0">
                <a:solidFill>
                  <a:srgbClr val="9FB3C8"/>
                </a:solidFill>
              </a:rPr>
              <a:t>Pre-triaged alerts, not raw noise</a:t>
            </a:r>
            <a:endParaRPr lang="en-US" sz="1150" dirty="0"/>
          </a:p>
        </p:txBody>
      </p:sp>
      <p:sp>
        <p:nvSpPr>
          <p:cNvPr id="8" name="Shape 5"/>
          <p:cNvSpPr/>
          <p:nvPr/>
        </p:nvSpPr>
        <p:spPr>
          <a:xfrm>
            <a:off x="2816352" y="1828800"/>
            <a:ext cx="2121408" cy="3291840"/>
          </a:xfrm>
          <a:prstGeom prst="roundRect">
            <a:avLst>
              <a:gd name="adj" fmla="val 3448"/>
            </a:avLst>
          </a:prstGeom>
          <a:solidFill>
            <a:srgbClr val="141F30"/>
          </a:solidFill>
          <a:ln/>
        </p:spPr>
      </p:sp>
      <p:pic>
        <p:nvPicPr>
          <p:cNvPr id="9" name="Image 1" descr="icons/stakeholders_accent.png">    </p:cNvPr>
          <p:cNvPicPr>
            <a:picLocks noChangeAspect="1"/>
          </p:cNvPicPr>
          <p:nvPr/>
        </p:nvPicPr>
        <p:blipFill>
          <a:blip r:embed="rId2"/>
          <a:stretch>
            <a:fillRect/>
          </a:stretch>
        </p:blipFill>
        <p:spPr>
          <a:xfrm>
            <a:off x="3602736" y="2148840"/>
            <a:ext cx="548640" cy="548640"/>
          </a:xfrm>
          <a:prstGeom prst="rect">
            <a:avLst/>
          </a:prstGeom>
        </p:spPr>
      </p:pic>
      <p:sp>
        <p:nvSpPr>
          <p:cNvPr id="10" name="Text 6"/>
          <p:cNvSpPr/>
          <p:nvPr/>
        </p:nvSpPr>
        <p:spPr>
          <a:xfrm>
            <a:off x="2953512" y="2880360"/>
            <a:ext cx="1847088" cy="548640"/>
          </a:xfrm>
          <a:prstGeom prst="rect">
            <a:avLst/>
          </a:prstGeom>
          <a:noFill/>
          <a:ln/>
        </p:spPr>
        <p:txBody>
          <a:bodyPr wrap="square" rtlCol="0" anchor="ctr"/>
          <a:lstStyle/>
          <a:p>
            <a:pPr algn="ctr" indent="0" marL="0">
              <a:buNone/>
            </a:pPr>
            <a:r>
              <a:rPr lang="en-US" sz="1400" b="1" dirty="0">
                <a:solidFill>
                  <a:srgbClr val="FFFFFF"/>
                </a:solidFill>
              </a:rPr>
              <a:t>Team Leads</a:t>
            </a:r>
            <a:endParaRPr lang="en-US" sz="1400" dirty="0"/>
          </a:p>
        </p:txBody>
      </p:sp>
      <p:sp>
        <p:nvSpPr>
          <p:cNvPr id="11" name="Text 7"/>
          <p:cNvSpPr/>
          <p:nvPr/>
        </p:nvSpPr>
        <p:spPr>
          <a:xfrm>
            <a:off x="2953512" y="3429000"/>
            <a:ext cx="1847088" cy="1463040"/>
          </a:xfrm>
          <a:prstGeom prst="rect">
            <a:avLst/>
          </a:prstGeom>
          <a:noFill/>
          <a:ln/>
        </p:spPr>
        <p:txBody>
          <a:bodyPr wrap="square" rtlCol="0" anchor="t"/>
          <a:lstStyle/>
          <a:p>
            <a:pPr algn="ctr" indent="0" marL="0">
              <a:buNone/>
            </a:pPr>
            <a:r>
              <a:rPr lang="en-US" sz="1150" dirty="0">
                <a:solidFill>
                  <a:srgbClr val="9FB3C8"/>
                </a:solidFill>
              </a:rPr>
              <a:t>Correct routing, SLA visibility</a:t>
            </a:r>
            <a:endParaRPr lang="en-US" sz="1150" dirty="0"/>
          </a:p>
        </p:txBody>
      </p:sp>
      <p:sp>
        <p:nvSpPr>
          <p:cNvPr id="12" name="Shape 8"/>
          <p:cNvSpPr/>
          <p:nvPr/>
        </p:nvSpPr>
        <p:spPr>
          <a:xfrm>
            <a:off x="5084064" y="1828800"/>
            <a:ext cx="2121408" cy="3291840"/>
          </a:xfrm>
          <a:prstGeom prst="roundRect">
            <a:avLst>
              <a:gd name="adj" fmla="val 3448"/>
            </a:avLst>
          </a:prstGeom>
          <a:solidFill>
            <a:srgbClr val="141F30"/>
          </a:solidFill>
          <a:ln/>
        </p:spPr>
      </p:sp>
      <p:pic>
        <p:nvPicPr>
          <p:cNvPr id="13" name="Image 2" descr="icons/stakeholders_accent.png">    </p:cNvPr>
          <p:cNvPicPr>
            <a:picLocks noChangeAspect="1"/>
          </p:cNvPicPr>
          <p:nvPr/>
        </p:nvPicPr>
        <p:blipFill>
          <a:blip r:embed="rId3"/>
          <a:stretch>
            <a:fillRect/>
          </a:stretch>
        </p:blipFill>
        <p:spPr>
          <a:xfrm>
            <a:off x="5870448" y="2148840"/>
            <a:ext cx="548640" cy="548640"/>
          </a:xfrm>
          <a:prstGeom prst="rect">
            <a:avLst/>
          </a:prstGeom>
        </p:spPr>
      </p:pic>
      <p:sp>
        <p:nvSpPr>
          <p:cNvPr id="14" name="Text 9"/>
          <p:cNvSpPr/>
          <p:nvPr/>
        </p:nvSpPr>
        <p:spPr>
          <a:xfrm>
            <a:off x="5221224" y="2880360"/>
            <a:ext cx="1847088" cy="548640"/>
          </a:xfrm>
          <a:prstGeom prst="rect">
            <a:avLst/>
          </a:prstGeom>
          <a:noFill/>
          <a:ln/>
        </p:spPr>
        <p:txBody>
          <a:bodyPr wrap="square" rtlCol="0" anchor="ctr"/>
          <a:lstStyle/>
          <a:p>
            <a:pPr algn="ctr" indent="0" marL="0">
              <a:buNone/>
            </a:pPr>
            <a:r>
              <a:rPr lang="en-US" sz="1400" b="1" dirty="0">
                <a:solidFill>
                  <a:srgbClr val="FFFFFF"/>
                </a:solidFill>
              </a:rPr>
              <a:t>CISO / Management</a:t>
            </a:r>
            <a:endParaRPr lang="en-US" sz="1400" dirty="0"/>
          </a:p>
        </p:txBody>
      </p:sp>
      <p:sp>
        <p:nvSpPr>
          <p:cNvPr id="15" name="Text 10"/>
          <p:cNvSpPr/>
          <p:nvPr/>
        </p:nvSpPr>
        <p:spPr>
          <a:xfrm>
            <a:off x="5221224" y="3429000"/>
            <a:ext cx="1847088" cy="1463040"/>
          </a:xfrm>
          <a:prstGeom prst="rect">
            <a:avLst/>
          </a:prstGeom>
          <a:noFill/>
          <a:ln/>
        </p:spPr>
        <p:txBody>
          <a:bodyPr wrap="square" rtlCol="0" anchor="t"/>
          <a:lstStyle/>
          <a:p>
            <a:pPr algn="ctr" indent="0" marL="0">
              <a:buNone/>
            </a:pPr>
            <a:r>
              <a:rPr lang="en-US" sz="1150" dirty="0">
                <a:solidFill>
                  <a:srgbClr val="9FB3C8"/>
                </a:solidFill>
              </a:rPr>
              <a:t>Trends without manual reports</a:t>
            </a:r>
            <a:endParaRPr lang="en-US" sz="1150" dirty="0"/>
          </a:p>
        </p:txBody>
      </p:sp>
      <p:sp>
        <p:nvSpPr>
          <p:cNvPr id="16" name="Shape 11"/>
          <p:cNvSpPr/>
          <p:nvPr/>
        </p:nvSpPr>
        <p:spPr>
          <a:xfrm>
            <a:off x="7351776" y="1828800"/>
            <a:ext cx="2121408" cy="3291840"/>
          </a:xfrm>
          <a:prstGeom prst="roundRect">
            <a:avLst>
              <a:gd name="adj" fmla="val 3448"/>
            </a:avLst>
          </a:prstGeom>
          <a:solidFill>
            <a:srgbClr val="141F30"/>
          </a:solidFill>
          <a:ln/>
        </p:spPr>
      </p:sp>
      <p:pic>
        <p:nvPicPr>
          <p:cNvPr id="17" name="Image 3" descr="icons/stakeholders_accent.png">    </p:cNvPr>
          <p:cNvPicPr>
            <a:picLocks noChangeAspect="1"/>
          </p:cNvPicPr>
          <p:nvPr/>
        </p:nvPicPr>
        <p:blipFill>
          <a:blip r:embed="rId4"/>
          <a:stretch>
            <a:fillRect/>
          </a:stretch>
        </p:blipFill>
        <p:spPr>
          <a:xfrm>
            <a:off x="8138160" y="2148840"/>
            <a:ext cx="548640" cy="548640"/>
          </a:xfrm>
          <a:prstGeom prst="rect">
            <a:avLst/>
          </a:prstGeom>
        </p:spPr>
      </p:pic>
      <p:sp>
        <p:nvSpPr>
          <p:cNvPr id="18" name="Text 12"/>
          <p:cNvSpPr/>
          <p:nvPr/>
        </p:nvSpPr>
        <p:spPr>
          <a:xfrm>
            <a:off x="7488936" y="2880360"/>
            <a:ext cx="1847088" cy="548640"/>
          </a:xfrm>
          <a:prstGeom prst="rect">
            <a:avLst/>
          </a:prstGeom>
          <a:noFill/>
          <a:ln/>
        </p:spPr>
        <p:txBody>
          <a:bodyPr wrap="square" rtlCol="0" anchor="ctr"/>
          <a:lstStyle/>
          <a:p>
            <a:pPr algn="ctr" indent="0" marL="0">
              <a:buNone/>
            </a:pPr>
            <a:r>
              <a:rPr lang="en-US" sz="1400" b="1" dirty="0">
                <a:solidFill>
                  <a:srgbClr val="FFFFFF"/>
                </a:solidFill>
              </a:rPr>
              <a:t>DevOps</a:t>
            </a:r>
            <a:endParaRPr lang="en-US" sz="1400" dirty="0"/>
          </a:p>
        </p:txBody>
      </p:sp>
      <p:sp>
        <p:nvSpPr>
          <p:cNvPr id="19" name="Text 13"/>
          <p:cNvSpPr/>
          <p:nvPr/>
        </p:nvSpPr>
        <p:spPr>
          <a:xfrm>
            <a:off x="7488936" y="3429000"/>
            <a:ext cx="1847088" cy="1463040"/>
          </a:xfrm>
          <a:prstGeom prst="rect">
            <a:avLst/>
          </a:prstGeom>
          <a:noFill/>
          <a:ln/>
        </p:spPr>
        <p:txBody>
          <a:bodyPr wrap="square" rtlCol="0" anchor="t"/>
          <a:lstStyle/>
          <a:p>
            <a:pPr algn="ctr" indent="0" marL="0">
              <a:buNone/>
            </a:pPr>
            <a:r>
              <a:rPr lang="en-US" sz="1150" dirty="0">
                <a:solidFill>
                  <a:srgbClr val="9FB3C8"/>
                </a:solidFill>
              </a:rPr>
              <a:t>Alerted when automation fails</a:t>
            </a:r>
            <a:endParaRPr lang="en-US" sz="1150" dirty="0"/>
          </a:p>
        </p:txBody>
      </p:sp>
      <p:sp>
        <p:nvSpPr>
          <p:cNvPr id="20" name="Shape 14"/>
          <p:cNvSpPr/>
          <p:nvPr/>
        </p:nvSpPr>
        <p:spPr>
          <a:xfrm>
            <a:off x="9619488" y="1828800"/>
            <a:ext cx="2121408" cy="3291840"/>
          </a:xfrm>
          <a:prstGeom prst="roundRect">
            <a:avLst>
              <a:gd name="adj" fmla="val 3448"/>
            </a:avLst>
          </a:prstGeom>
          <a:solidFill>
            <a:srgbClr val="141F30"/>
          </a:solidFill>
          <a:ln/>
        </p:spPr>
      </p:sp>
      <p:pic>
        <p:nvPicPr>
          <p:cNvPr id="21" name="Image 4" descr="icons/stakeholders_accent.png">    </p:cNvPr>
          <p:cNvPicPr>
            <a:picLocks noChangeAspect="1"/>
          </p:cNvPicPr>
          <p:nvPr/>
        </p:nvPicPr>
        <p:blipFill>
          <a:blip r:embed="rId5"/>
          <a:stretch>
            <a:fillRect/>
          </a:stretch>
        </p:blipFill>
        <p:spPr>
          <a:xfrm>
            <a:off x="10405872" y="2148840"/>
            <a:ext cx="548640" cy="548640"/>
          </a:xfrm>
          <a:prstGeom prst="rect">
            <a:avLst/>
          </a:prstGeom>
        </p:spPr>
      </p:pic>
      <p:sp>
        <p:nvSpPr>
          <p:cNvPr id="22" name="Text 15"/>
          <p:cNvSpPr/>
          <p:nvPr/>
        </p:nvSpPr>
        <p:spPr>
          <a:xfrm>
            <a:off x="9756648" y="2880360"/>
            <a:ext cx="1847088" cy="548640"/>
          </a:xfrm>
          <a:prstGeom prst="rect">
            <a:avLst/>
          </a:prstGeom>
          <a:noFill/>
          <a:ln/>
        </p:spPr>
        <p:txBody>
          <a:bodyPr wrap="square" rtlCol="0" anchor="ctr"/>
          <a:lstStyle/>
          <a:p>
            <a:pPr algn="ctr" indent="0" marL="0">
              <a:buNone/>
            </a:pPr>
            <a:r>
              <a:rPr lang="en-US" sz="1400" b="1" dirty="0">
                <a:solidFill>
                  <a:srgbClr val="FFFFFF"/>
                </a:solidFill>
              </a:rPr>
              <a:t>Compliance / Audit</a:t>
            </a:r>
            <a:endParaRPr lang="en-US" sz="1400" dirty="0"/>
          </a:p>
        </p:txBody>
      </p:sp>
      <p:sp>
        <p:nvSpPr>
          <p:cNvPr id="23" name="Text 16"/>
          <p:cNvSpPr/>
          <p:nvPr/>
        </p:nvSpPr>
        <p:spPr>
          <a:xfrm>
            <a:off x="9756648" y="3429000"/>
            <a:ext cx="1847088" cy="1463040"/>
          </a:xfrm>
          <a:prstGeom prst="rect">
            <a:avLst/>
          </a:prstGeom>
          <a:noFill/>
          <a:ln/>
        </p:spPr>
        <p:txBody>
          <a:bodyPr wrap="square" rtlCol="0" anchor="t"/>
          <a:lstStyle/>
          <a:p>
            <a:pPr algn="ctr" indent="0" marL="0">
              <a:buNone/>
            </a:pPr>
            <a:r>
              <a:rPr lang="en-US" sz="1150" dirty="0">
                <a:solidFill>
                  <a:srgbClr val="9FB3C8"/>
                </a:solidFill>
              </a:rPr>
              <a:t>Permanent timestamped trail</a:t>
            </a:r>
            <a:endParaRPr lang="en-US" sz="1150" dirty="0"/>
          </a:p>
        </p:txBody>
      </p:sp>
      <p:sp>
        <p:nvSpPr>
          <p:cNvPr id="24" name="Text 17"/>
          <p:cNvSpPr/>
          <p:nvPr/>
        </p:nvSpPr>
        <p:spPr>
          <a:xfrm>
            <a:off x="11338560" y="6492240"/>
            <a:ext cx="731520" cy="274320"/>
          </a:xfrm>
          <a:prstGeom prst="rect">
            <a:avLst/>
          </a:prstGeom>
          <a:noFill/>
          <a:ln/>
        </p:spPr>
        <p:txBody>
          <a:bodyPr wrap="square" rtlCol="0" anchor="ctr"/>
          <a:lstStyle/>
          <a:p>
            <a:pPr algn="r" indent="0" marL="0">
              <a:buNone/>
            </a:pPr>
            <a:r>
              <a:rPr lang="en-US" sz="1000" dirty="0">
                <a:solidFill>
                  <a:srgbClr val="9FB3C8"/>
                </a:solidFill>
              </a:rPr>
              <a:t>03 / 12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300" b="1" spc="200" kern="0" dirty="0">
                <a:solidFill>
                  <a:srgbClr val="3DDC97"/>
                </a:solidFill>
                <a:latin typeface="Arial" pitchFamily="34" charset="0"/>
                <a:ea typeface="Arial" pitchFamily="34" charset="-122"/>
                <a:cs typeface="Arial" pitchFamily="34" charset="-120"/>
              </a:rPr>
              <a:t>PROBLEM ANALYSIS</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Objectives</a:t>
            </a:r>
            <a:endParaRPr lang="en-US" sz="3200" dirty="0"/>
          </a:p>
        </p:txBody>
      </p:sp>
      <p:sp>
        <p:nvSpPr>
          <p:cNvPr id="4" name="Shape 2"/>
          <p:cNvSpPr/>
          <p:nvPr/>
        </p:nvSpPr>
        <p:spPr>
          <a:xfrm>
            <a:off x="548640" y="1783080"/>
            <a:ext cx="502920" cy="502920"/>
          </a:xfrm>
          <a:prstGeom prst="roundRect">
            <a:avLst>
              <a:gd name="adj" fmla="val 50909"/>
            </a:avLst>
          </a:prstGeom>
          <a:solidFill>
            <a:srgbClr val="3DDC97"/>
          </a:solidFill>
          <a:ln/>
        </p:spPr>
      </p:sp>
      <p:sp>
        <p:nvSpPr>
          <p:cNvPr id="5" name="Text 3"/>
          <p:cNvSpPr/>
          <p:nvPr/>
        </p:nvSpPr>
        <p:spPr>
          <a:xfrm>
            <a:off x="548640" y="1783080"/>
            <a:ext cx="502920" cy="502920"/>
          </a:xfrm>
          <a:prstGeom prst="rect">
            <a:avLst/>
          </a:prstGeom>
          <a:noFill/>
          <a:ln/>
        </p:spPr>
        <p:txBody>
          <a:bodyPr wrap="square" rtlCol="0" anchor="ctr"/>
          <a:lstStyle/>
          <a:p>
            <a:pPr algn="ctr" indent="0" marL="0">
              <a:buNone/>
            </a:pPr>
            <a:r>
              <a:rPr lang="en-US" sz="1800" b="1" dirty="0">
                <a:solidFill>
                  <a:srgbClr val="0B1220"/>
                </a:solidFill>
              </a:rPr>
              <a:t>1</a:t>
            </a:r>
            <a:endParaRPr lang="en-US" sz="1800" dirty="0"/>
          </a:p>
        </p:txBody>
      </p:sp>
      <p:sp>
        <p:nvSpPr>
          <p:cNvPr id="6" name="Shape 4"/>
          <p:cNvSpPr/>
          <p:nvPr/>
        </p:nvSpPr>
        <p:spPr>
          <a:xfrm>
            <a:off x="1234440" y="1764792"/>
            <a:ext cx="10378440" cy="548640"/>
          </a:xfrm>
          <a:prstGeom prst="roundRect">
            <a:avLst>
              <a:gd name="adj" fmla="val 10000"/>
            </a:avLst>
          </a:prstGeom>
          <a:solidFill>
            <a:srgbClr val="141F30"/>
          </a:solidFill>
          <a:ln/>
        </p:spPr>
      </p:sp>
      <p:sp>
        <p:nvSpPr>
          <p:cNvPr id="7" name="Text 5"/>
          <p:cNvSpPr/>
          <p:nvPr/>
        </p:nvSpPr>
        <p:spPr>
          <a:xfrm>
            <a:off x="1508760" y="1764792"/>
            <a:ext cx="9875520" cy="548640"/>
          </a:xfrm>
          <a:prstGeom prst="rect">
            <a:avLst/>
          </a:prstGeom>
          <a:noFill/>
          <a:ln/>
        </p:spPr>
        <p:txBody>
          <a:bodyPr wrap="square" rtlCol="0" anchor="ctr"/>
          <a:lstStyle/>
          <a:p>
            <a:pPr indent="0" marL="0">
              <a:buNone/>
            </a:pPr>
            <a:r>
              <a:rPr lang="en-US" sz="1550" dirty="0">
                <a:solidFill>
                  <a:srgbClr val="FFFFFF"/>
                </a:solidFill>
              </a:rPr>
              <a:t>Automate security incident management end-to-end</a:t>
            </a:r>
            <a:endParaRPr lang="en-US" sz="1550" dirty="0"/>
          </a:p>
        </p:txBody>
      </p:sp>
      <p:sp>
        <p:nvSpPr>
          <p:cNvPr id="8" name="Shape 6"/>
          <p:cNvSpPr/>
          <p:nvPr/>
        </p:nvSpPr>
        <p:spPr>
          <a:xfrm>
            <a:off x="548640" y="2624328"/>
            <a:ext cx="502920" cy="502920"/>
          </a:xfrm>
          <a:prstGeom prst="roundRect">
            <a:avLst>
              <a:gd name="adj" fmla="val 50909"/>
            </a:avLst>
          </a:prstGeom>
          <a:solidFill>
            <a:srgbClr val="3DDC97"/>
          </a:solidFill>
          <a:ln/>
        </p:spPr>
      </p:sp>
      <p:sp>
        <p:nvSpPr>
          <p:cNvPr id="9" name="Text 7"/>
          <p:cNvSpPr/>
          <p:nvPr/>
        </p:nvSpPr>
        <p:spPr>
          <a:xfrm>
            <a:off x="548640" y="2624328"/>
            <a:ext cx="502920" cy="502920"/>
          </a:xfrm>
          <a:prstGeom prst="rect">
            <a:avLst/>
          </a:prstGeom>
          <a:noFill/>
          <a:ln/>
        </p:spPr>
        <p:txBody>
          <a:bodyPr wrap="square" rtlCol="0" anchor="ctr"/>
          <a:lstStyle/>
          <a:p>
            <a:pPr algn="ctr" indent="0" marL="0">
              <a:buNone/>
            </a:pPr>
            <a:r>
              <a:rPr lang="en-US" sz="1800" b="1" dirty="0">
                <a:solidFill>
                  <a:srgbClr val="0B1220"/>
                </a:solidFill>
              </a:rPr>
              <a:t>2</a:t>
            </a:r>
            <a:endParaRPr lang="en-US" sz="1800" dirty="0"/>
          </a:p>
        </p:txBody>
      </p:sp>
      <p:sp>
        <p:nvSpPr>
          <p:cNvPr id="10" name="Shape 8"/>
          <p:cNvSpPr/>
          <p:nvPr/>
        </p:nvSpPr>
        <p:spPr>
          <a:xfrm>
            <a:off x="1234440" y="2606040"/>
            <a:ext cx="10378440" cy="548640"/>
          </a:xfrm>
          <a:prstGeom prst="roundRect">
            <a:avLst>
              <a:gd name="adj" fmla="val 10000"/>
            </a:avLst>
          </a:prstGeom>
          <a:solidFill>
            <a:srgbClr val="141F30"/>
          </a:solidFill>
          <a:ln/>
        </p:spPr>
      </p:sp>
      <p:sp>
        <p:nvSpPr>
          <p:cNvPr id="11" name="Text 9"/>
          <p:cNvSpPr/>
          <p:nvPr/>
        </p:nvSpPr>
        <p:spPr>
          <a:xfrm>
            <a:off x="1508760" y="2606040"/>
            <a:ext cx="9875520" cy="548640"/>
          </a:xfrm>
          <a:prstGeom prst="rect">
            <a:avLst/>
          </a:prstGeom>
          <a:noFill/>
          <a:ln/>
        </p:spPr>
        <p:txBody>
          <a:bodyPr wrap="square" rtlCol="0" anchor="ctr"/>
          <a:lstStyle/>
          <a:p>
            <a:pPr indent="0" marL="0">
              <a:buNone/>
            </a:pPr>
            <a:r>
              <a:rPr lang="en-US" sz="1550" dirty="0">
                <a:solidFill>
                  <a:srgbClr val="FFFFFF"/>
                </a:solidFill>
              </a:rPr>
              <a:t>Prioritize threats using AI classification</a:t>
            </a:r>
            <a:endParaRPr lang="en-US" sz="1550" dirty="0"/>
          </a:p>
        </p:txBody>
      </p:sp>
      <p:sp>
        <p:nvSpPr>
          <p:cNvPr id="12" name="Shape 10"/>
          <p:cNvSpPr/>
          <p:nvPr/>
        </p:nvSpPr>
        <p:spPr>
          <a:xfrm>
            <a:off x="548640" y="3465576"/>
            <a:ext cx="502920" cy="502920"/>
          </a:xfrm>
          <a:prstGeom prst="roundRect">
            <a:avLst>
              <a:gd name="adj" fmla="val 50909"/>
            </a:avLst>
          </a:prstGeom>
          <a:solidFill>
            <a:srgbClr val="3DDC97"/>
          </a:solidFill>
          <a:ln/>
        </p:spPr>
      </p:sp>
      <p:sp>
        <p:nvSpPr>
          <p:cNvPr id="13" name="Text 11"/>
          <p:cNvSpPr/>
          <p:nvPr/>
        </p:nvSpPr>
        <p:spPr>
          <a:xfrm>
            <a:off x="548640" y="3465576"/>
            <a:ext cx="502920" cy="502920"/>
          </a:xfrm>
          <a:prstGeom prst="rect">
            <a:avLst/>
          </a:prstGeom>
          <a:noFill/>
          <a:ln/>
        </p:spPr>
        <p:txBody>
          <a:bodyPr wrap="square" rtlCol="0" anchor="ctr"/>
          <a:lstStyle/>
          <a:p>
            <a:pPr algn="ctr" indent="0" marL="0">
              <a:buNone/>
            </a:pPr>
            <a:r>
              <a:rPr lang="en-US" sz="1800" b="1" dirty="0">
                <a:solidFill>
                  <a:srgbClr val="0B1220"/>
                </a:solidFill>
              </a:rPr>
              <a:t>3</a:t>
            </a:r>
            <a:endParaRPr lang="en-US" sz="1800" dirty="0"/>
          </a:p>
        </p:txBody>
      </p:sp>
      <p:sp>
        <p:nvSpPr>
          <p:cNvPr id="14" name="Shape 12"/>
          <p:cNvSpPr/>
          <p:nvPr/>
        </p:nvSpPr>
        <p:spPr>
          <a:xfrm>
            <a:off x="1234440" y="3447288"/>
            <a:ext cx="10378440" cy="548640"/>
          </a:xfrm>
          <a:prstGeom prst="roundRect">
            <a:avLst>
              <a:gd name="adj" fmla="val 10000"/>
            </a:avLst>
          </a:prstGeom>
          <a:solidFill>
            <a:srgbClr val="141F30"/>
          </a:solidFill>
          <a:ln/>
        </p:spPr>
      </p:sp>
      <p:sp>
        <p:nvSpPr>
          <p:cNvPr id="15" name="Text 13"/>
          <p:cNvSpPr/>
          <p:nvPr/>
        </p:nvSpPr>
        <p:spPr>
          <a:xfrm>
            <a:off x="1508760" y="3447288"/>
            <a:ext cx="9875520" cy="548640"/>
          </a:xfrm>
          <a:prstGeom prst="rect">
            <a:avLst/>
          </a:prstGeom>
          <a:noFill/>
          <a:ln/>
        </p:spPr>
        <p:txBody>
          <a:bodyPr wrap="square" rtlCol="0" anchor="ctr"/>
          <a:lstStyle/>
          <a:p>
            <a:pPr indent="0" marL="0">
              <a:buNone/>
            </a:pPr>
            <a:r>
              <a:rPr lang="en-US" sz="1550" dirty="0">
                <a:solidFill>
                  <a:srgbClr val="FFFFFF"/>
                </a:solidFill>
              </a:rPr>
              <a:t>Improve response time with SLA-driven routing</a:t>
            </a:r>
            <a:endParaRPr lang="en-US" sz="1550" dirty="0"/>
          </a:p>
        </p:txBody>
      </p:sp>
      <p:sp>
        <p:nvSpPr>
          <p:cNvPr id="16" name="Shape 14"/>
          <p:cNvSpPr/>
          <p:nvPr/>
        </p:nvSpPr>
        <p:spPr>
          <a:xfrm>
            <a:off x="548640" y="4306824"/>
            <a:ext cx="502920" cy="502920"/>
          </a:xfrm>
          <a:prstGeom prst="roundRect">
            <a:avLst>
              <a:gd name="adj" fmla="val 50909"/>
            </a:avLst>
          </a:prstGeom>
          <a:solidFill>
            <a:srgbClr val="3DDC97"/>
          </a:solidFill>
          <a:ln/>
        </p:spPr>
      </p:sp>
      <p:sp>
        <p:nvSpPr>
          <p:cNvPr id="17" name="Text 15"/>
          <p:cNvSpPr/>
          <p:nvPr/>
        </p:nvSpPr>
        <p:spPr>
          <a:xfrm>
            <a:off x="548640" y="4306824"/>
            <a:ext cx="502920" cy="502920"/>
          </a:xfrm>
          <a:prstGeom prst="rect">
            <a:avLst/>
          </a:prstGeom>
          <a:noFill/>
          <a:ln/>
        </p:spPr>
        <p:txBody>
          <a:bodyPr wrap="square" rtlCol="0" anchor="ctr"/>
          <a:lstStyle/>
          <a:p>
            <a:pPr algn="ctr" indent="0" marL="0">
              <a:buNone/>
            </a:pPr>
            <a:r>
              <a:rPr lang="en-US" sz="1800" b="1" dirty="0">
                <a:solidFill>
                  <a:srgbClr val="0B1220"/>
                </a:solidFill>
              </a:rPr>
              <a:t>4</a:t>
            </a:r>
            <a:endParaRPr lang="en-US" sz="1800" dirty="0"/>
          </a:p>
        </p:txBody>
      </p:sp>
      <p:sp>
        <p:nvSpPr>
          <p:cNvPr id="18" name="Shape 16"/>
          <p:cNvSpPr/>
          <p:nvPr/>
        </p:nvSpPr>
        <p:spPr>
          <a:xfrm>
            <a:off x="1234440" y="4288536"/>
            <a:ext cx="10378440" cy="548640"/>
          </a:xfrm>
          <a:prstGeom prst="roundRect">
            <a:avLst>
              <a:gd name="adj" fmla="val 10000"/>
            </a:avLst>
          </a:prstGeom>
          <a:solidFill>
            <a:srgbClr val="141F30"/>
          </a:solidFill>
          <a:ln/>
        </p:spPr>
      </p:sp>
      <p:sp>
        <p:nvSpPr>
          <p:cNvPr id="19" name="Text 17"/>
          <p:cNvSpPr/>
          <p:nvPr/>
        </p:nvSpPr>
        <p:spPr>
          <a:xfrm>
            <a:off x="1508760" y="4288536"/>
            <a:ext cx="9875520" cy="548640"/>
          </a:xfrm>
          <a:prstGeom prst="rect">
            <a:avLst/>
          </a:prstGeom>
          <a:noFill/>
          <a:ln/>
        </p:spPr>
        <p:txBody>
          <a:bodyPr wrap="square" rtlCol="0" anchor="ctr"/>
          <a:lstStyle/>
          <a:p>
            <a:pPr indent="0" marL="0">
              <a:buNone/>
            </a:pPr>
            <a:r>
              <a:rPr lang="en-US" sz="1550" dirty="0">
                <a:solidFill>
                  <a:srgbClr val="FFFFFF"/>
                </a:solidFill>
              </a:rPr>
              <a:t>Maintain centralized, permanent security logs</a:t>
            </a:r>
            <a:endParaRPr lang="en-US" sz="1550" dirty="0"/>
          </a:p>
        </p:txBody>
      </p:sp>
      <p:sp>
        <p:nvSpPr>
          <p:cNvPr id="20" name="Shape 18"/>
          <p:cNvSpPr/>
          <p:nvPr/>
        </p:nvSpPr>
        <p:spPr>
          <a:xfrm>
            <a:off x="548640" y="5148072"/>
            <a:ext cx="502920" cy="502920"/>
          </a:xfrm>
          <a:prstGeom prst="roundRect">
            <a:avLst>
              <a:gd name="adj" fmla="val 50909"/>
            </a:avLst>
          </a:prstGeom>
          <a:solidFill>
            <a:srgbClr val="3DDC97"/>
          </a:solidFill>
          <a:ln/>
        </p:spPr>
      </p:sp>
      <p:sp>
        <p:nvSpPr>
          <p:cNvPr id="21" name="Text 19"/>
          <p:cNvSpPr/>
          <p:nvPr/>
        </p:nvSpPr>
        <p:spPr>
          <a:xfrm>
            <a:off x="548640" y="5148072"/>
            <a:ext cx="502920" cy="502920"/>
          </a:xfrm>
          <a:prstGeom prst="rect">
            <a:avLst/>
          </a:prstGeom>
          <a:noFill/>
          <a:ln/>
        </p:spPr>
        <p:txBody>
          <a:bodyPr wrap="square" rtlCol="0" anchor="ctr"/>
          <a:lstStyle/>
          <a:p>
            <a:pPr algn="ctr" indent="0" marL="0">
              <a:buNone/>
            </a:pPr>
            <a:r>
              <a:rPr lang="en-US" sz="1800" b="1" dirty="0">
                <a:solidFill>
                  <a:srgbClr val="0B1220"/>
                </a:solidFill>
              </a:rPr>
              <a:t>5</a:t>
            </a:r>
            <a:endParaRPr lang="en-US" sz="1800" dirty="0"/>
          </a:p>
        </p:txBody>
      </p:sp>
      <p:sp>
        <p:nvSpPr>
          <p:cNvPr id="22" name="Shape 20"/>
          <p:cNvSpPr/>
          <p:nvPr/>
        </p:nvSpPr>
        <p:spPr>
          <a:xfrm>
            <a:off x="1234440" y="5129784"/>
            <a:ext cx="10378440" cy="548640"/>
          </a:xfrm>
          <a:prstGeom prst="roundRect">
            <a:avLst>
              <a:gd name="adj" fmla="val 10000"/>
            </a:avLst>
          </a:prstGeom>
          <a:solidFill>
            <a:srgbClr val="141F30"/>
          </a:solidFill>
          <a:ln/>
        </p:spPr>
      </p:sp>
      <p:sp>
        <p:nvSpPr>
          <p:cNvPr id="23" name="Text 21"/>
          <p:cNvSpPr/>
          <p:nvPr/>
        </p:nvSpPr>
        <p:spPr>
          <a:xfrm>
            <a:off x="1508760" y="5129784"/>
            <a:ext cx="9875520" cy="548640"/>
          </a:xfrm>
          <a:prstGeom prst="rect">
            <a:avLst/>
          </a:prstGeom>
          <a:noFill/>
          <a:ln/>
        </p:spPr>
        <p:txBody>
          <a:bodyPr wrap="square" rtlCol="0" anchor="ctr"/>
          <a:lstStyle/>
          <a:p>
            <a:pPr indent="0" marL="0">
              <a:buNone/>
            </a:pPr>
            <a:r>
              <a:rPr lang="en-US" sz="1550" dirty="0">
                <a:solidFill>
                  <a:srgbClr val="FFFFFF"/>
                </a:solidFill>
              </a:rPr>
              <a:t>Generate security analytics automatically</a:t>
            </a:r>
            <a:endParaRPr lang="en-US" sz="1550" dirty="0"/>
          </a:p>
        </p:txBody>
      </p:sp>
      <p:sp>
        <p:nvSpPr>
          <p:cNvPr id="24" name="Text 22"/>
          <p:cNvSpPr/>
          <p:nvPr/>
        </p:nvSpPr>
        <p:spPr>
          <a:xfrm>
            <a:off x="11338560" y="6492240"/>
            <a:ext cx="731520" cy="274320"/>
          </a:xfrm>
          <a:prstGeom prst="rect">
            <a:avLst/>
          </a:prstGeom>
          <a:noFill/>
          <a:ln/>
        </p:spPr>
        <p:txBody>
          <a:bodyPr wrap="square" rtlCol="0" anchor="ctr"/>
          <a:lstStyle/>
          <a:p>
            <a:pPr algn="r" indent="0" marL="0">
              <a:buNone/>
            </a:pPr>
            <a:r>
              <a:rPr lang="en-US" sz="1000" dirty="0">
                <a:solidFill>
                  <a:srgbClr val="9FB3C8"/>
                </a:solidFill>
              </a:rPr>
              <a:t>04 / 12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300" b="1" spc="200" kern="0" dirty="0">
                <a:solidFill>
                  <a:srgbClr val="3DDC97"/>
                </a:solidFill>
                <a:latin typeface="Arial" pitchFamily="34" charset="0"/>
                <a:ea typeface="Arial" pitchFamily="34" charset="-122"/>
                <a:cs typeface="Arial" pitchFamily="34" charset="-120"/>
              </a:rPr>
              <a:t>THE SOLUTION</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Five automated stages, one connected pipeline</a:t>
            </a:r>
            <a:endParaRPr lang="en-US" sz="3200" dirty="0"/>
          </a:p>
        </p:txBody>
      </p:sp>
      <p:sp>
        <p:nvSpPr>
          <p:cNvPr id="4" name="Shape 2"/>
          <p:cNvSpPr/>
          <p:nvPr/>
        </p:nvSpPr>
        <p:spPr>
          <a:xfrm>
            <a:off x="548640" y="2011680"/>
            <a:ext cx="2048256" cy="3017520"/>
          </a:xfrm>
          <a:prstGeom prst="roundRect">
            <a:avLst>
              <a:gd name="adj" fmla="val 3571"/>
            </a:avLst>
          </a:prstGeom>
          <a:solidFill>
            <a:srgbClr val="141F30"/>
          </a:solidFill>
          <a:ln/>
        </p:spPr>
      </p:sp>
      <p:sp>
        <p:nvSpPr>
          <p:cNvPr id="5" name="Text 3"/>
          <p:cNvSpPr/>
          <p:nvPr/>
        </p:nvSpPr>
        <p:spPr>
          <a:xfrm>
            <a:off x="731520" y="2194560"/>
            <a:ext cx="1682496" cy="457200"/>
          </a:xfrm>
          <a:prstGeom prst="rect">
            <a:avLst/>
          </a:prstGeom>
          <a:noFill/>
          <a:ln/>
        </p:spPr>
        <p:txBody>
          <a:bodyPr wrap="square" rtlCol="0" anchor="ctr"/>
          <a:lstStyle/>
          <a:p>
            <a:pPr indent="0" marL="0">
              <a:buNone/>
            </a:pPr>
            <a:r>
              <a:rPr lang="en-US" sz="1800" b="1" dirty="0">
                <a:solidFill>
                  <a:srgbClr val="3DDC97"/>
                </a:solidFill>
              </a:rPr>
              <a:t>01</a:t>
            </a:r>
            <a:endParaRPr lang="en-US" sz="1800" dirty="0"/>
          </a:p>
        </p:txBody>
      </p:sp>
      <p:sp>
        <p:nvSpPr>
          <p:cNvPr id="6" name="Text 4"/>
          <p:cNvSpPr/>
          <p:nvPr/>
        </p:nvSpPr>
        <p:spPr>
          <a:xfrm>
            <a:off x="731520" y="2697480"/>
            <a:ext cx="1682496" cy="457200"/>
          </a:xfrm>
          <a:prstGeom prst="rect">
            <a:avLst/>
          </a:prstGeom>
          <a:noFill/>
          <a:ln/>
        </p:spPr>
        <p:txBody>
          <a:bodyPr wrap="square" rtlCol="0" anchor="ctr"/>
          <a:lstStyle/>
          <a:p>
            <a:pPr indent="0" marL="0">
              <a:buNone/>
            </a:pPr>
            <a:r>
              <a:rPr lang="en-US" sz="1500" b="1" dirty="0">
                <a:solidFill>
                  <a:srgbClr val="FFFFFF"/>
                </a:solidFill>
              </a:rPr>
              <a:t>Collect</a:t>
            </a:r>
            <a:endParaRPr lang="en-US" sz="1500" dirty="0"/>
          </a:p>
        </p:txBody>
      </p:sp>
      <p:sp>
        <p:nvSpPr>
          <p:cNvPr id="7" name="Text 5"/>
          <p:cNvSpPr/>
          <p:nvPr/>
        </p:nvSpPr>
        <p:spPr>
          <a:xfrm>
            <a:off x="731520" y="3200400"/>
            <a:ext cx="1682496" cy="1691640"/>
          </a:xfrm>
          <a:prstGeom prst="rect">
            <a:avLst/>
          </a:prstGeom>
          <a:noFill/>
          <a:ln/>
        </p:spPr>
        <p:txBody>
          <a:bodyPr wrap="square" rtlCol="0" anchor="t"/>
          <a:lstStyle/>
          <a:p>
            <a:pPr indent="0" marL="0">
              <a:lnSpc>
                <a:spcPct val="125000"/>
              </a:lnSpc>
              <a:buNone/>
            </a:pPr>
            <a:r>
              <a:rPr lang="en-US" sz="1100" dirty="0">
                <a:solidFill>
                  <a:srgbClr val="9FB3C8"/>
                </a:solidFill>
              </a:rPr>
              <a:t>Webhook intake from any security tool, validated &amp; normalized</a:t>
            </a:r>
            <a:endParaRPr lang="en-US" sz="1100" dirty="0"/>
          </a:p>
        </p:txBody>
      </p:sp>
      <p:sp>
        <p:nvSpPr>
          <p:cNvPr id="8" name="Text 6"/>
          <p:cNvSpPr/>
          <p:nvPr/>
        </p:nvSpPr>
        <p:spPr>
          <a:xfrm>
            <a:off x="2578608" y="3291840"/>
            <a:ext cx="274320" cy="365760"/>
          </a:xfrm>
          <a:prstGeom prst="rect">
            <a:avLst/>
          </a:prstGeom>
          <a:noFill/>
          <a:ln/>
        </p:spPr>
        <p:txBody>
          <a:bodyPr wrap="square" rtlCol="0" anchor="ctr"/>
          <a:lstStyle/>
          <a:p>
            <a:pPr algn="ctr" indent="0" marL="0">
              <a:buNone/>
            </a:pPr>
            <a:r>
              <a:rPr lang="en-US" sz="1600" dirty="0">
                <a:solidFill>
                  <a:srgbClr val="3DDC97"/>
                </a:solidFill>
              </a:rPr>
              <a:t>→</a:t>
            </a:r>
            <a:endParaRPr lang="en-US" sz="1600" dirty="0"/>
          </a:p>
        </p:txBody>
      </p:sp>
      <p:sp>
        <p:nvSpPr>
          <p:cNvPr id="9" name="Shape 7"/>
          <p:cNvSpPr/>
          <p:nvPr/>
        </p:nvSpPr>
        <p:spPr>
          <a:xfrm>
            <a:off x="2724912" y="2011680"/>
            <a:ext cx="2048256" cy="3017520"/>
          </a:xfrm>
          <a:prstGeom prst="roundRect">
            <a:avLst>
              <a:gd name="adj" fmla="val 3571"/>
            </a:avLst>
          </a:prstGeom>
          <a:solidFill>
            <a:srgbClr val="1B2740"/>
          </a:solidFill>
          <a:ln/>
        </p:spPr>
      </p:sp>
      <p:sp>
        <p:nvSpPr>
          <p:cNvPr id="10" name="Text 8"/>
          <p:cNvSpPr/>
          <p:nvPr/>
        </p:nvSpPr>
        <p:spPr>
          <a:xfrm>
            <a:off x="2907792" y="2194560"/>
            <a:ext cx="1682496" cy="457200"/>
          </a:xfrm>
          <a:prstGeom prst="rect">
            <a:avLst/>
          </a:prstGeom>
          <a:noFill/>
          <a:ln/>
        </p:spPr>
        <p:txBody>
          <a:bodyPr wrap="square" rtlCol="0" anchor="ctr"/>
          <a:lstStyle/>
          <a:p>
            <a:pPr indent="0" marL="0">
              <a:buNone/>
            </a:pPr>
            <a:r>
              <a:rPr lang="en-US" sz="1800" b="1" dirty="0">
                <a:solidFill>
                  <a:srgbClr val="3DDC97"/>
                </a:solidFill>
              </a:rPr>
              <a:t>02</a:t>
            </a:r>
            <a:endParaRPr lang="en-US" sz="1800" dirty="0"/>
          </a:p>
        </p:txBody>
      </p:sp>
      <p:sp>
        <p:nvSpPr>
          <p:cNvPr id="11" name="Text 9"/>
          <p:cNvSpPr/>
          <p:nvPr/>
        </p:nvSpPr>
        <p:spPr>
          <a:xfrm>
            <a:off x="2907792" y="2697480"/>
            <a:ext cx="1682496" cy="457200"/>
          </a:xfrm>
          <a:prstGeom prst="rect">
            <a:avLst/>
          </a:prstGeom>
          <a:noFill/>
          <a:ln/>
        </p:spPr>
        <p:txBody>
          <a:bodyPr wrap="square" rtlCol="0" anchor="ctr"/>
          <a:lstStyle/>
          <a:p>
            <a:pPr indent="0" marL="0">
              <a:buNone/>
            </a:pPr>
            <a:r>
              <a:rPr lang="en-US" sz="1500" b="1" dirty="0">
                <a:solidFill>
                  <a:srgbClr val="FFFFFF"/>
                </a:solidFill>
              </a:rPr>
              <a:t>Classify</a:t>
            </a:r>
            <a:endParaRPr lang="en-US" sz="1500" dirty="0"/>
          </a:p>
        </p:txBody>
      </p:sp>
      <p:sp>
        <p:nvSpPr>
          <p:cNvPr id="12" name="Text 10"/>
          <p:cNvSpPr/>
          <p:nvPr/>
        </p:nvSpPr>
        <p:spPr>
          <a:xfrm>
            <a:off x="2907792" y="3200400"/>
            <a:ext cx="1682496" cy="1691640"/>
          </a:xfrm>
          <a:prstGeom prst="rect">
            <a:avLst/>
          </a:prstGeom>
          <a:noFill/>
          <a:ln/>
        </p:spPr>
        <p:txBody>
          <a:bodyPr wrap="square" rtlCol="0" anchor="t"/>
          <a:lstStyle/>
          <a:p>
            <a:pPr indent="0" marL="0">
              <a:lnSpc>
                <a:spcPct val="125000"/>
              </a:lnSpc>
              <a:buNone/>
            </a:pPr>
            <a:r>
              <a:rPr lang="en-US" sz="1100" dirty="0">
                <a:solidFill>
                  <a:srgbClr val="9FB3C8"/>
                </a:solidFill>
              </a:rPr>
              <a:t>Groq AI reads the alert and assigns severity, category, team</a:t>
            </a:r>
            <a:endParaRPr lang="en-US" sz="1100" dirty="0"/>
          </a:p>
        </p:txBody>
      </p:sp>
      <p:sp>
        <p:nvSpPr>
          <p:cNvPr id="13" name="Text 11"/>
          <p:cNvSpPr/>
          <p:nvPr/>
        </p:nvSpPr>
        <p:spPr>
          <a:xfrm>
            <a:off x="4754880" y="3291840"/>
            <a:ext cx="274320" cy="365760"/>
          </a:xfrm>
          <a:prstGeom prst="rect">
            <a:avLst/>
          </a:prstGeom>
          <a:noFill/>
          <a:ln/>
        </p:spPr>
        <p:txBody>
          <a:bodyPr wrap="square" rtlCol="0" anchor="ctr"/>
          <a:lstStyle/>
          <a:p>
            <a:pPr algn="ctr" indent="0" marL="0">
              <a:buNone/>
            </a:pPr>
            <a:r>
              <a:rPr lang="en-US" sz="1600" dirty="0">
                <a:solidFill>
                  <a:srgbClr val="3DDC97"/>
                </a:solidFill>
              </a:rPr>
              <a:t>→</a:t>
            </a:r>
            <a:endParaRPr lang="en-US" sz="1600" dirty="0"/>
          </a:p>
        </p:txBody>
      </p:sp>
      <p:sp>
        <p:nvSpPr>
          <p:cNvPr id="14" name="Shape 12"/>
          <p:cNvSpPr/>
          <p:nvPr/>
        </p:nvSpPr>
        <p:spPr>
          <a:xfrm>
            <a:off x="4901184" y="2011680"/>
            <a:ext cx="2048256" cy="3017520"/>
          </a:xfrm>
          <a:prstGeom prst="roundRect">
            <a:avLst>
              <a:gd name="adj" fmla="val 3571"/>
            </a:avLst>
          </a:prstGeom>
          <a:solidFill>
            <a:srgbClr val="141F30"/>
          </a:solidFill>
          <a:ln/>
        </p:spPr>
      </p:sp>
      <p:sp>
        <p:nvSpPr>
          <p:cNvPr id="15" name="Text 13"/>
          <p:cNvSpPr/>
          <p:nvPr/>
        </p:nvSpPr>
        <p:spPr>
          <a:xfrm>
            <a:off x="5084064" y="2194560"/>
            <a:ext cx="1682496" cy="457200"/>
          </a:xfrm>
          <a:prstGeom prst="rect">
            <a:avLst/>
          </a:prstGeom>
          <a:noFill/>
          <a:ln/>
        </p:spPr>
        <p:txBody>
          <a:bodyPr wrap="square" rtlCol="0" anchor="ctr"/>
          <a:lstStyle/>
          <a:p>
            <a:pPr indent="0" marL="0">
              <a:buNone/>
            </a:pPr>
            <a:r>
              <a:rPr lang="en-US" sz="1800" b="1" dirty="0">
                <a:solidFill>
                  <a:srgbClr val="3DDC97"/>
                </a:solidFill>
              </a:rPr>
              <a:t>03</a:t>
            </a:r>
            <a:endParaRPr lang="en-US" sz="1800" dirty="0"/>
          </a:p>
        </p:txBody>
      </p:sp>
      <p:sp>
        <p:nvSpPr>
          <p:cNvPr id="16" name="Text 14"/>
          <p:cNvSpPr/>
          <p:nvPr/>
        </p:nvSpPr>
        <p:spPr>
          <a:xfrm>
            <a:off x="5084064" y="2697480"/>
            <a:ext cx="1682496" cy="457200"/>
          </a:xfrm>
          <a:prstGeom prst="rect">
            <a:avLst/>
          </a:prstGeom>
          <a:noFill/>
          <a:ln/>
        </p:spPr>
        <p:txBody>
          <a:bodyPr wrap="square" rtlCol="0" anchor="ctr"/>
          <a:lstStyle/>
          <a:p>
            <a:pPr indent="0" marL="0">
              <a:buNone/>
            </a:pPr>
            <a:r>
              <a:rPr lang="en-US" sz="1500" b="1" dirty="0">
                <a:solidFill>
                  <a:srgbClr val="FFFFFF"/>
                </a:solidFill>
              </a:rPr>
              <a:t>Assign &amp; Escalate</a:t>
            </a:r>
            <a:endParaRPr lang="en-US" sz="1500" dirty="0"/>
          </a:p>
        </p:txBody>
      </p:sp>
      <p:sp>
        <p:nvSpPr>
          <p:cNvPr id="17" name="Text 15"/>
          <p:cNvSpPr/>
          <p:nvPr/>
        </p:nvSpPr>
        <p:spPr>
          <a:xfrm>
            <a:off x="5084064" y="3200400"/>
            <a:ext cx="1682496" cy="1691640"/>
          </a:xfrm>
          <a:prstGeom prst="rect">
            <a:avLst/>
          </a:prstGeom>
          <a:noFill/>
          <a:ln/>
        </p:spPr>
        <p:txBody>
          <a:bodyPr wrap="square" rtlCol="0" anchor="t"/>
          <a:lstStyle/>
          <a:p>
            <a:pPr indent="0" marL="0">
              <a:lnSpc>
                <a:spcPct val="125000"/>
              </a:lnSpc>
              <a:buNone/>
            </a:pPr>
            <a:r>
              <a:rPr lang="en-US" sz="1100" dirty="0">
                <a:solidFill>
                  <a:srgbClr val="9FB3C8"/>
                </a:solidFill>
              </a:rPr>
              <a:t>Severity routing + human approval gate for Critical</a:t>
            </a:r>
            <a:endParaRPr lang="en-US" sz="1100" dirty="0"/>
          </a:p>
        </p:txBody>
      </p:sp>
      <p:sp>
        <p:nvSpPr>
          <p:cNvPr id="18" name="Text 16"/>
          <p:cNvSpPr/>
          <p:nvPr/>
        </p:nvSpPr>
        <p:spPr>
          <a:xfrm>
            <a:off x="6931152" y="3291840"/>
            <a:ext cx="274320" cy="365760"/>
          </a:xfrm>
          <a:prstGeom prst="rect">
            <a:avLst/>
          </a:prstGeom>
          <a:noFill/>
          <a:ln/>
        </p:spPr>
        <p:txBody>
          <a:bodyPr wrap="square" rtlCol="0" anchor="ctr"/>
          <a:lstStyle/>
          <a:p>
            <a:pPr algn="ctr" indent="0" marL="0">
              <a:buNone/>
            </a:pPr>
            <a:r>
              <a:rPr lang="en-US" sz="1600" dirty="0">
                <a:solidFill>
                  <a:srgbClr val="3DDC97"/>
                </a:solidFill>
              </a:rPr>
              <a:t>→</a:t>
            </a:r>
            <a:endParaRPr lang="en-US" sz="1600" dirty="0"/>
          </a:p>
        </p:txBody>
      </p:sp>
      <p:sp>
        <p:nvSpPr>
          <p:cNvPr id="19" name="Shape 17"/>
          <p:cNvSpPr/>
          <p:nvPr/>
        </p:nvSpPr>
        <p:spPr>
          <a:xfrm>
            <a:off x="7077456" y="2011680"/>
            <a:ext cx="2048256" cy="3017520"/>
          </a:xfrm>
          <a:prstGeom prst="roundRect">
            <a:avLst>
              <a:gd name="adj" fmla="val 3571"/>
            </a:avLst>
          </a:prstGeom>
          <a:solidFill>
            <a:srgbClr val="1B2740"/>
          </a:solidFill>
          <a:ln/>
        </p:spPr>
      </p:sp>
      <p:sp>
        <p:nvSpPr>
          <p:cNvPr id="20" name="Text 18"/>
          <p:cNvSpPr/>
          <p:nvPr/>
        </p:nvSpPr>
        <p:spPr>
          <a:xfrm>
            <a:off x="7260336" y="2194560"/>
            <a:ext cx="1682496" cy="457200"/>
          </a:xfrm>
          <a:prstGeom prst="rect">
            <a:avLst/>
          </a:prstGeom>
          <a:noFill/>
          <a:ln/>
        </p:spPr>
        <p:txBody>
          <a:bodyPr wrap="square" rtlCol="0" anchor="ctr"/>
          <a:lstStyle/>
          <a:p>
            <a:pPr indent="0" marL="0">
              <a:buNone/>
            </a:pPr>
            <a:r>
              <a:rPr lang="en-US" sz="1800" b="1" dirty="0">
                <a:solidFill>
                  <a:srgbClr val="3DDC97"/>
                </a:solidFill>
              </a:rPr>
              <a:t>04</a:t>
            </a:r>
            <a:endParaRPr lang="en-US" sz="1800" dirty="0"/>
          </a:p>
        </p:txBody>
      </p:sp>
      <p:sp>
        <p:nvSpPr>
          <p:cNvPr id="21" name="Text 19"/>
          <p:cNvSpPr/>
          <p:nvPr/>
        </p:nvSpPr>
        <p:spPr>
          <a:xfrm>
            <a:off x="7260336" y="2697480"/>
            <a:ext cx="1682496" cy="457200"/>
          </a:xfrm>
          <a:prstGeom prst="rect">
            <a:avLst/>
          </a:prstGeom>
          <a:noFill/>
          <a:ln/>
        </p:spPr>
        <p:txBody>
          <a:bodyPr wrap="square" rtlCol="0" anchor="ctr"/>
          <a:lstStyle/>
          <a:p>
            <a:pPr indent="0" marL="0">
              <a:buNone/>
            </a:pPr>
            <a:r>
              <a:rPr lang="en-US" sz="1500" b="1" dirty="0">
                <a:solidFill>
                  <a:srgbClr val="FFFFFF"/>
                </a:solidFill>
              </a:rPr>
              <a:t>Track &amp; Notify</a:t>
            </a:r>
            <a:endParaRPr lang="en-US" sz="1500" dirty="0"/>
          </a:p>
        </p:txBody>
      </p:sp>
      <p:sp>
        <p:nvSpPr>
          <p:cNvPr id="22" name="Text 20"/>
          <p:cNvSpPr/>
          <p:nvPr/>
        </p:nvSpPr>
        <p:spPr>
          <a:xfrm>
            <a:off x="7260336" y="3200400"/>
            <a:ext cx="1682496" cy="1691640"/>
          </a:xfrm>
          <a:prstGeom prst="rect">
            <a:avLst/>
          </a:prstGeom>
          <a:noFill/>
          <a:ln/>
        </p:spPr>
        <p:txBody>
          <a:bodyPr wrap="square" rtlCol="0" anchor="t"/>
          <a:lstStyle/>
          <a:p>
            <a:pPr indent="0" marL="0">
              <a:lnSpc>
                <a:spcPct val="125000"/>
              </a:lnSpc>
              <a:buNone/>
            </a:pPr>
            <a:r>
              <a:rPr lang="en-US" sz="1100" dirty="0">
                <a:solidFill>
                  <a:srgbClr val="9FB3C8"/>
                </a:solidFill>
              </a:rPr>
              <a:t>Slack/Gmail alerts + permanent audit logging</a:t>
            </a:r>
            <a:endParaRPr lang="en-US" sz="1100" dirty="0"/>
          </a:p>
        </p:txBody>
      </p:sp>
      <p:sp>
        <p:nvSpPr>
          <p:cNvPr id="23" name="Text 21"/>
          <p:cNvSpPr/>
          <p:nvPr/>
        </p:nvSpPr>
        <p:spPr>
          <a:xfrm>
            <a:off x="9107424" y="3291840"/>
            <a:ext cx="274320" cy="365760"/>
          </a:xfrm>
          <a:prstGeom prst="rect">
            <a:avLst/>
          </a:prstGeom>
          <a:noFill/>
          <a:ln/>
        </p:spPr>
        <p:txBody>
          <a:bodyPr wrap="square" rtlCol="0" anchor="ctr"/>
          <a:lstStyle/>
          <a:p>
            <a:pPr algn="ctr" indent="0" marL="0">
              <a:buNone/>
            </a:pPr>
            <a:r>
              <a:rPr lang="en-US" sz="1600" dirty="0">
                <a:solidFill>
                  <a:srgbClr val="3DDC97"/>
                </a:solidFill>
              </a:rPr>
              <a:t>→</a:t>
            </a:r>
            <a:endParaRPr lang="en-US" sz="1600" dirty="0"/>
          </a:p>
        </p:txBody>
      </p:sp>
      <p:sp>
        <p:nvSpPr>
          <p:cNvPr id="24" name="Shape 22"/>
          <p:cNvSpPr/>
          <p:nvPr/>
        </p:nvSpPr>
        <p:spPr>
          <a:xfrm>
            <a:off x="9253728" y="2011680"/>
            <a:ext cx="2048256" cy="3017520"/>
          </a:xfrm>
          <a:prstGeom prst="roundRect">
            <a:avLst>
              <a:gd name="adj" fmla="val 3571"/>
            </a:avLst>
          </a:prstGeom>
          <a:solidFill>
            <a:srgbClr val="141F30"/>
          </a:solidFill>
          <a:ln/>
        </p:spPr>
      </p:sp>
      <p:sp>
        <p:nvSpPr>
          <p:cNvPr id="25" name="Text 23"/>
          <p:cNvSpPr/>
          <p:nvPr/>
        </p:nvSpPr>
        <p:spPr>
          <a:xfrm>
            <a:off x="9436608" y="2194560"/>
            <a:ext cx="1682496" cy="457200"/>
          </a:xfrm>
          <a:prstGeom prst="rect">
            <a:avLst/>
          </a:prstGeom>
          <a:noFill/>
          <a:ln/>
        </p:spPr>
        <p:txBody>
          <a:bodyPr wrap="square" rtlCol="0" anchor="ctr"/>
          <a:lstStyle/>
          <a:p>
            <a:pPr indent="0" marL="0">
              <a:buNone/>
            </a:pPr>
            <a:r>
              <a:rPr lang="en-US" sz="1800" b="1" dirty="0">
                <a:solidFill>
                  <a:srgbClr val="3DDC97"/>
                </a:solidFill>
              </a:rPr>
              <a:t>05</a:t>
            </a:r>
            <a:endParaRPr lang="en-US" sz="1800" dirty="0"/>
          </a:p>
        </p:txBody>
      </p:sp>
      <p:sp>
        <p:nvSpPr>
          <p:cNvPr id="26" name="Text 24"/>
          <p:cNvSpPr/>
          <p:nvPr/>
        </p:nvSpPr>
        <p:spPr>
          <a:xfrm>
            <a:off x="9436608" y="2697480"/>
            <a:ext cx="1682496" cy="457200"/>
          </a:xfrm>
          <a:prstGeom prst="rect">
            <a:avLst/>
          </a:prstGeom>
          <a:noFill/>
          <a:ln/>
        </p:spPr>
        <p:txBody>
          <a:bodyPr wrap="square" rtlCol="0" anchor="ctr"/>
          <a:lstStyle/>
          <a:p>
            <a:pPr indent="0" marL="0">
              <a:buNone/>
            </a:pPr>
            <a:r>
              <a:rPr lang="en-US" sz="1500" b="1" dirty="0">
                <a:solidFill>
                  <a:srgbClr val="FFFFFF"/>
                </a:solidFill>
              </a:rPr>
              <a:t>Report</a:t>
            </a:r>
            <a:endParaRPr lang="en-US" sz="1500" dirty="0"/>
          </a:p>
        </p:txBody>
      </p:sp>
      <p:sp>
        <p:nvSpPr>
          <p:cNvPr id="27" name="Text 25"/>
          <p:cNvSpPr/>
          <p:nvPr/>
        </p:nvSpPr>
        <p:spPr>
          <a:xfrm>
            <a:off x="9436608" y="3200400"/>
            <a:ext cx="1682496" cy="1691640"/>
          </a:xfrm>
          <a:prstGeom prst="rect">
            <a:avLst/>
          </a:prstGeom>
          <a:noFill/>
          <a:ln/>
        </p:spPr>
        <p:txBody>
          <a:bodyPr wrap="square" rtlCol="0" anchor="t"/>
          <a:lstStyle/>
          <a:p>
            <a:pPr indent="0" marL="0">
              <a:lnSpc>
                <a:spcPct val="125000"/>
              </a:lnSpc>
              <a:buNone/>
            </a:pPr>
            <a:r>
              <a:rPr lang="en-US" sz="1100" dirty="0">
                <a:solidFill>
                  <a:srgbClr val="9FB3C8"/>
                </a:solidFill>
              </a:rPr>
              <a:t>Daily automated analytics on trends &amp; recurring issues</a:t>
            </a:r>
            <a:endParaRPr lang="en-US" sz="1100" dirty="0"/>
          </a:p>
        </p:txBody>
      </p:sp>
      <p:sp>
        <p:nvSpPr>
          <p:cNvPr id="28" name="Text 26"/>
          <p:cNvSpPr/>
          <p:nvPr/>
        </p:nvSpPr>
        <p:spPr>
          <a:xfrm>
            <a:off x="11338560" y="6492240"/>
            <a:ext cx="731520" cy="274320"/>
          </a:xfrm>
          <a:prstGeom prst="rect">
            <a:avLst/>
          </a:prstGeom>
          <a:noFill/>
          <a:ln/>
        </p:spPr>
        <p:txBody>
          <a:bodyPr wrap="square" rtlCol="0" anchor="ctr"/>
          <a:lstStyle/>
          <a:p>
            <a:pPr algn="r" indent="0" marL="0">
              <a:buNone/>
            </a:pPr>
            <a:r>
              <a:rPr lang="en-US" sz="1000" dirty="0">
                <a:solidFill>
                  <a:srgbClr val="9FB3C8"/>
                </a:solidFill>
              </a:rPr>
              <a:t>05 / 12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300" b="1" spc="200" kern="0" dirty="0">
                <a:solidFill>
                  <a:srgbClr val="3DDC97"/>
                </a:solidFill>
                <a:latin typeface="Arial" pitchFamily="34" charset="0"/>
                <a:ea typeface="Arial" pitchFamily="34" charset="-122"/>
                <a:cs typeface="Arial" pitchFamily="34" charset="-120"/>
              </a:rPr>
              <a:t>WORKFLOW ARCHITECTURE</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System architecture — 6 modular workflows</a:t>
            </a:r>
            <a:endParaRPr lang="en-US" sz="3200" dirty="0"/>
          </a:p>
        </p:txBody>
      </p:sp>
      <p:sp>
        <p:nvSpPr>
          <p:cNvPr id="4" name="Shape 2"/>
          <p:cNvSpPr/>
          <p:nvPr/>
        </p:nvSpPr>
        <p:spPr>
          <a:xfrm>
            <a:off x="457200" y="1965960"/>
            <a:ext cx="1920240" cy="1051560"/>
          </a:xfrm>
          <a:prstGeom prst="roundRect">
            <a:avLst>
              <a:gd name="adj" fmla="val 6957"/>
            </a:avLst>
          </a:prstGeom>
          <a:solidFill>
            <a:srgbClr val="141F30"/>
          </a:solidFill>
          <a:ln w="19050">
            <a:solidFill>
              <a:srgbClr val="4A90D9"/>
            </a:solidFill>
            <a:prstDash val="solid"/>
          </a:ln>
        </p:spPr>
      </p:sp>
      <p:sp>
        <p:nvSpPr>
          <p:cNvPr id="5" name="Text 3"/>
          <p:cNvSpPr/>
          <p:nvPr/>
        </p:nvSpPr>
        <p:spPr>
          <a:xfrm>
            <a:off x="457200" y="1965960"/>
            <a:ext cx="1920240" cy="1051560"/>
          </a:xfrm>
          <a:prstGeom prst="rect">
            <a:avLst/>
          </a:prstGeom>
          <a:noFill/>
          <a:ln/>
        </p:spPr>
        <p:txBody>
          <a:bodyPr wrap="square" rtlCol="0" anchor="ctr"/>
          <a:lstStyle/>
          <a:p>
            <a:pPr algn="ctr" indent="0" marL="0">
              <a:buNone/>
            </a:pPr>
            <a:r>
              <a:rPr lang="en-US" sz="1250" b="1" dirty="0">
                <a:solidFill>
                  <a:srgbClr val="FFFFFF"/>
                </a:solidFill>
              </a:rPr>
              <a:t>WF1</a:t>
            </a:r>
            <a:endParaRPr lang="en-US" sz="1250" dirty="0"/>
          </a:p>
          <a:p>
            <a:pPr algn="ctr" indent="0" marL="0">
              <a:buNone/>
            </a:pPr>
            <a:r>
              <a:rPr lang="en-US" sz="1250" b="1" dirty="0">
                <a:solidFill>
                  <a:srgbClr val="FFFFFF"/>
                </a:solidFill>
              </a:rPr>
              <a:t>Alert Collection</a:t>
            </a:r>
            <a:endParaRPr lang="en-US" sz="1250" dirty="0"/>
          </a:p>
        </p:txBody>
      </p:sp>
      <p:sp>
        <p:nvSpPr>
          <p:cNvPr id="6" name="Text 4"/>
          <p:cNvSpPr/>
          <p:nvPr/>
        </p:nvSpPr>
        <p:spPr>
          <a:xfrm>
            <a:off x="2377440" y="2240280"/>
            <a:ext cx="228600" cy="457200"/>
          </a:xfrm>
          <a:prstGeom prst="rect">
            <a:avLst/>
          </a:prstGeom>
          <a:noFill/>
          <a:ln/>
        </p:spPr>
        <p:txBody>
          <a:bodyPr wrap="square" rtlCol="0" anchor="ctr"/>
          <a:lstStyle/>
          <a:p>
            <a:pPr algn="ctr" indent="0" marL="0">
              <a:buNone/>
            </a:pPr>
            <a:r>
              <a:rPr lang="en-US" sz="1800" dirty="0">
                <a:solidFill>
                  <a:srgbClr val="9FB3C8"/>
                </a:solidFill>
              </a:rPr>
              <a:t>→</a:t>
            </a:r>
            <a:endParaRPr lang="en-US" sz="1800" dirty="0"/>
          </a:p>
        </p:txBody>
      </p:sp>
      <p:sp>
        <p:nvSpPr>
          <p:cNvPr id="7" name="Shape 5"/>
          <p:cNvSpPr/>
          <p:nvPr/>
        </p:nvSpPr>
        <p:spPr>
          <a:xfrm>
            <a:off x="2606040" y="1965960"/>
            <a:ext cx="1920240" cy="1051560"/>
          </a:xfrm>
          <a:prstGeom prst="roundRect">
            <a:avLst>
              <a:gd name="adj" fmla="val 6957"/>
            </a:avLst>
          </a:prstGeom>
          <a:solidFill>
            <a:srgbClr val="141F30"/>
          </a:solidFill>
          <a:ln w="19050">
            <a:solidFill>
              <a:srgbClr val="4A90D9"/>
            </a:solidFill>
            <a:prstDash val="solid"/>
          </a:ln>
        </p:spPr>
      </p:sp>
      <p:sp>
        <p:nvSpPr>
          <p:cNvPr id="8" name="Text 6"/>
          <p:cNvSpPr/>
          <p:nvPr/>
        </p:nvSpPr>
        <p:spPr>
          <a:xfrm>
            <a:off x="2606040" y="1965960"/>
            <a:ext cx="1920240" cy="1051560"/>
          </a:xfrm>
          <a:prstGeom prst="rect">
            <a:avLst/>
          </a:prstGeom>
          <a:noFill/>
          <a:ln/>
        </p:spPr>
        <p:txBody>
          <a:bodyPr wrap="square" rtlCol="0" anchor="ctr"/>
          <a:lstStyle/>
          <a:p>
            <a:pPr algn="ctr" indent="0" marL="0">
              <a:buNone/>
            </a:pPr>
            <a:r>
              <a:rPr lang="en-US" sz="1250" b="1" dirty="0">
                <a:solidFill>
                  <a:srgbClr val="FFFFFF"/>
                </a:solidFill>
              </a:rPr>
              <a:t>WF2</a:t>
            </a:r>
            <a:endParaRPr lang="en-US" sz="1250" dirty="0"/>
          </a:p>
          <a:p>
            <a:pPr algn="ctr" indent="0" marL="0">
              <a:buNone/>
            </a:pPr>
            <a:r>
              <a:rPr lang="en-US" sz="1250" b="1" dirty="0">
                <a:solidFill>
                  <a:srgbClr val="FFFFFF"/>
                </a:solidFill>
              </a:rPr>
              <a:t>AI Classification</a:t>
            </a:r>
            <a:endParaRPr lang="en-US" sz="1250" dirty="0"/>
          </a:p>
        </p:txBody>
      </p:sp>
      <p:sp>
        <p:nvSpPr>
          <p:cNvPr id="9" name="Text 7"/>
          <p:cNvSpPr/>
          <p:nvPr/>
        </p:nvSpPr>
        <p:spPr>
          <a:xfrm>
            <a:off x="4526280" y="2240280"/>
            <a:ext cx="228600" cy="457200"/>
          </a:xfrm>
          <a:prstGeom prst="rect">
            <a:avLst/>
          </a:prstGeom>
          <a:noFill/>
          <a:ln/>
        </p:spPr>
        <p:txBody>
          <a:bodyPr wrap="square" rtlCol="0" anchor="ctr"/>
          <a:lstStyle/>
          <a:p>
            <a:pPr algn="ctr" indent="0" marL="0">
              <a:buNone/>
            </a:pPr>
            <a:r>
              <a:rPr lang="en-US" sz="1800" dirty="0">
                <a:solidFill>
                  <a:srgbClr val="9FB3C8"/>
                </a:solidFill>
              </a:rPr>
              <a:t>→</a:t>
            </a:r>
            <a:endParaRPr lang="en-US" sz="1800" dirty="0"/>
          </a:p>
        </p:txBody>
      </p:sp>
      <p:sp>
        <p:nvSpPr>
          <p:cNvPr id="10" name="Shape 8"/>
          <p:cNvSpPr/>
          <p:nvPr/>
        </p:nvSpPr>
        <p:spPr>
          <a:xfrm>
            <a:off x="4754880" y="1965960"/>
            <a:ext cx="1920240" cy="1051560"/>
          </a:xfrm>
          <a:prstGeom prst="roundRect">
            <a:avLst>
              <a:gd name="adj" fmla="val 6957"/>
            </a:avLst>
          </a:prstGeom>
          <a:solidFill>
            <a:srgbClr val="141F30"/>
          </a:solidFill>
          <a:ln w="19050">
            <a:solidFill>
              <a:srgbClr val="E8A93D"/>
            </a:solidFill>
            <a:prstDash val="solid"/>
          </a:ln>
        </p:spPr>
      </p:sp>
      <p:sp>
        <p:nvSpPr>
          <p:cNvPr id="11" name="Text 9"/>
          <p:cNvSpPr/>
          <p:nvPr/>
        </p:nvSpPr>
        <p:spPr>
          <a:xfrm>
            <a:off x="4754880" y="1965960"/>
            <a:ext cx="1920240" cy="1051560"/>
          </a:xfrm>
          <a:prstGeom prst="rect">
            <a:avLst/>
          </a:prstGeom>
          <a:noFill/>
          <a:ln/>
        </p:spPr>
        <p:txBody>
          <a:bodyPr wrap="square" rtlCol="0" anchor="ctr"/>
          <a:lstStyle/>
          <a:p>
            <a:pPr algn="ctr" indent="0" marL="0">
              <a:buNone/>
            </a:pPr>
            <a:r>
              <a:rPr lang="en-US" sz="1250" b="1" dirty="0">
                <a:solidFill>
                  <a:srgbClr val="FFFFFF"/>
                </a:solidFill>
              </a:rPr>
              <a:t>WF3</a:t>
            </a:r>
            <a:endParaRPr lang="en-US" sz="1250" dirty="0"/>
          </a:p>
          <a:p>
            <a:pPr algn="ctr" indent="0" marL="0">
              <a:buNone/>
            </a:pPr>
            <a:r>
              <a:rPr lang="en-US" sz="1250" b="1" dirty="0">
                <a:solidFill>
                  <a:srgbClr val="FFFFFF"/>
                </a:solidFill>
              </a:rPr>
              <a:t>Assignment +</a:t>
            </a:r>
            <a:endParaRPr lang="en-US" sz="1250" dirty="0"/>
          </a:p>
          <a:p>
            <a:pPr algn="ctr" indent="0" marL="0">
              <a:buNone/>
            </a:pPr>
            <a:r>
              <a:rPr lang="en-US" sz="1250" b="1" dirty="0">
                <a:solidFill>
                  <a:srgbClr val="FFFFFF"/>
                </a:solidFill>
              </a:rPr>
              <a:t>Human Approval</a:t>
            </a:r>
            <a:endParaRPr lang="en-US" sz="1250" dirty="0"/>
          </a:p>
        </p:txBody>
      </p:sp>
      <p:sp>
        <p:nvSpPr>
          <p:cNvPr id="12" name="Text 10"/>
          <p:cNvSpPr/>
          <p:nvPr/>
        </p:nvSpPr>
        <p:spPr>
          <a:xfrm>
            <a:off x="6675120" y="2240280"/>
            <a:ext cx="228600" cy="457200"/>
          </a:xfrm>
          <a:prstGeom prst="rect">
            <a:avLst/>
          </a:prstGeom>
          <a:noFill/>
          <a:ln/>
        </p:spPr>
        <p:txBody>
          <a:bodyPr wrap="square" rtlCol="0" anchor="ctr"/>
          <a:lstStyle/>
          <a:p>
            <a:pPr algn="ctr" indent="0" marL="0">
              <a:buNone/>
            </a:pPr>
            <a:r>
              <a:rPr lang="en-US" sz="1800" dirty="0">
                <a:solidFill>
                  <a:srgbClr val="9FB3C8"/>
                </a:solidFill>
              </a:rPr>
              <a:t>→</a:t>
            </a:r>
            <a:endParaRPr lang="en-US" sz="1800" dirty="0"/>
          </a:p>
        </p:txBody>
      </p:sp>
      <p:sp>
        <p:nvSpPr>
          <p:cNvPr id="13" name="Shape 11"/>
          <p:cNvSpPr/>
          <p:nvPr/>
        </p:nvSpPr>
        <p:spPr>
          <a:xfrm>
            <a:off x="6903720" y="1965960"/>
            <a:ext cx="1920240" cy="1051560"/>
          </a:xfrm>
          <a:prstGeom prst="roundRect">
            <a:avLst>
              <a:gd name="adj" fmla="val 6957"/>
            </a:avLst>
          </a:prstGeom>
          <a:solidFill>
            <a:srgbClr val="141F30"/>
          </a:solidFill>
          <a:ln w="19050">
            <a:solidFill>
              <a:srgbClr val="4A90D9"/>
            </a:solidFill>
            <a:prstDash val="solid"/>
          </a:ln>
        </p:spPr>
      </p:sp>
      <p:sp>
        <p:nvSpPr>
          <p:cNvPr id="14" name="Text 12"/>
          <p:cNvSpPr/>
          <p:nvPr/>
        </p:nvSpPr>
        <p:spPr>
          <a:xfrm>
            <a:off x="6903720" y="1965960"/>
            <a:ext cx="1920240" cy="1051560"/>
          </a:xfrm>
          <a:prstGeom prst="rect">
            <a:avLst/>
          </a:prstGeom>
          <a:noFill/>
          <a:ln/>
        </p:spPr>
        <p:txBody>
          <a:bodyPr wrap="square" rtlCol="0" anchor="ctr"/>
          <a:lstStyle/>
          <a:p>
            <a:pPr algn="ctr" indent="0" marL="0">
              <a:buNone/>
            </a:pPr>
            <a:r>
              <a:rPr lang="en-US" sz="1250" b="1" dirty="0">
                <a:solidFill>
                  <a:srgbClr val="FFFFFF"/>
                </a:solidFill>
              </a:rPr>
              <a:t>WF4</a:t>
            </a:r>
            <a:endParaRPr lang="en-US" sz="1250" dirty="0"/>
          </a:p>
          <a:p>
            <a:pPr algn="ctr" indent="0" marL="0">
              <a:buNone/>
            </a:pPr>
            <a:r>
              <a:rPr lang="en-US" sz="1250" b="1" dirty="0">
                <a:solidFill>
                  <a:srgbClr val="FFFFFF"/>
                </a:solidFill>
              </a:rPr>
              <a:t>Notify + Log</a:t>
            </a:r>
            <a:endParaRPr lang="en-US" sz="1250" dirty="0"/>
          </a:p>
        </p:txBody>
      </p:sp>
      <p:sp>
        <p:nvSpPr>
          <p:cNvPr id="15" name="Shape 13"/>
          <p:cNvSpPr/>
          <p:nvPr/>
        </p:nvSpPr>
        <p:spPr>
          <a:xfrm>
            <a:off x="2926080" y="3429000"/>
            <a:ext cx="2834640" cy="685800"/>
          </a:xfrm>
          <a:prstGeom prst="roundRect">
            <a:avLst>
              <a:gd name="adj" fmla="val 8000"/>
            </a:avLst>
          </a:prstGeom>
          <a:solidFill>
            <a:srgbClr val="1B2740"/>
          </a:solidFill>
          <a:ln w="15240">
            <a:solidFill>
              <a:srgbClr val="3DDC97"/>
            </a:solidFill>
            <a:prstDash val="solid"/>
          </a:ln>
        </p:spPr>
      </p:sp>
      <p:sp>
        <p:nvSpPr>
          <p:cNvPr id="16" name="Text 14"/>
          <p:cNvSpPr/>
          <p:nvPr/>
        </p:nvSpPr>
        <p:spPr>
          <a:xfrm>
            <a:off x="2926080" y="3429000"/>
            <a:ext cx="2834640" cy="685800"/>
          </a:xfrm>
          <a:prstGeom prst="rect">
            <a:avLst/>
          </a:prstGeom>
          <a:noFill/>
          <a:ln/>
        </p:spPr>
        <p:txBody>
          <a:bodyPr wrap="square" rtlCol="0" anchor="ctr"/>
          <a:lstStyle/>
          <a:p>
            <a:pPr algn="ctr" indent="0" marL="0">
              <a:buNone/>
            </a:pPr>
            <a:r>
              <a:rPr lang="en-US" sz="1100" b="1" dirty="0">
                <a:solidFill>
                  <a:srgbClr val="3DDC97"/>
                </a:solidFill>
              </a:rPr>
              <a:t>Google Sheets</a:t>
            </a:r>
            <a:endParaRPr lang="en-US" sz="1100" dirty="0"/>
          </a:p>
          <a:p>
            <a:pPr algn="ctr" indent="0" marL="0">
              <a:buNone/>
            </a:pPr>
            <a:r>
              <a:rPr lang="en-US" sz="1100" b="1" dirty="0">
                <a:solidFill>
                  <a:srgbClr val="3DDC97"/>
                </a:solidFill>
              </a:rPr>
              <a:t>Security_Incident_Log</a:t>
            </a:r>
            <a:endParaRPr lang="en-US" sz="1100" dirty="0"/>
          </a:p>
        </p:txBody>
      </p:sp>
      <p:sp>
        <p:nvSpPr>
          <p:cNvPr id="17" name="Shape 15"/>
          <p:cNvSpPr/>
          <p:nvPr/>
        </p:nvSpPr>
        <p:spPr>
          <a:xfrm>
            <a:off x="6903720" y="3429000"/>
            <a:ext cx="1920240" cy="685800"/>
          </a:xfrm>
          <a:prstGeom prst="roundRect">
            <a:avLst>
              <a:gd name="adj" fmla="val 8000"/>
            </a:avLst>
          </a:prstGeom>
          <a:solidFill>
            <a:srgbClr val="1B2740"/>
          </a:solidFill>
          <a:ln w="15240">
            <a:solidFill>
              <a:srgbClr val="3DDC97"/>
            </a:solidFill>
            <a:prstDash val="solid"/>
          </a:ln>
        </p:spPr>
      </p:sp>
      <p:sp>
        <p:nvSpPr>
          <p:cNvPr id="18" name="Text 16"/>
          <p:cNvSpPr/>
          <p:nvPr/>
        </p:nvSpPr>
        <p:spPr>
          <a:xfrm>
            <a:off x="6903720" y="3429000"/>
            <a:ext cx="1920240" cy="685800"/>
          </a:xfrm>
          <a:prstGeom prst="rect">
            <a:avLst/>
          </a:prstGeom>
          <a:noFill/>
          <a:ln/>
        </p:spPr>
        <p:txBody>
          <a:bodyPr wrap="square" rtlCol="0" anchor="ctr"/>
          <a:lstStyle/>
          <a:p>
            <a:pPr algn="ctr" indent="0" marL="0">
              <a:buNone/>
            </a:pPr>
            <a:r>
              <a:rPr lang="en-US" sz="1200" b="1" dirty="0">
                <a:solidFill>
                  <a:srgbClr val="3DDC97"/>
                </a:solidFill>
              </a:rPr>
              <a:t>Slack + Gmail</a:t>
            </a:r>
            <a:endParaRPr lang="en-US" sz="1200" dirty="0"/>
          </a:p>
        </p:txBody>
      </p:sp>
      <p:sp>
        <p:nvSpPr>
          <p:cNvPr id="19" name="Text 17"/>
          <p:cNvSpPr/>
          <p:nvPr/>
        </p:nvSpPr>
        <p:spPr>
          <a:xfrm>
            <a:off x="7772400" y="3035808"/>
            <a:ext cx="274320" cy="365760"/>
          </a:xfrm>
          <a:prstGeom prst="rect">
            <a:avLst/>
          </a:prstGeom>
          <a:noFill/>
          <a:ln/>
        </p:spPr>
        <p:txBody>
          <a:bodyPr wrap="square" rtlCol="0" anchor="ctr"/>
          <a:lstStyle/>
          <a:p>
            <a:pPr algn="ctr" indent="0" marL="0">
              <a:buNone/>
            </a:pPr>
            <a:r>
              <a:rPr lang="en-US" sz="1600" dirty="0">
                <a:solidFill>
                  <a:srgbClr val="9FB3C8"/>
                </a:solidFill>
              </a:rPr>
              <a:t>↓</a:t>
            </a:r>
            <a:endParaRPr lang="en-US" sz="1600" dirty="0"/>
          </a:p>
        </p:txBody>
      </p:sp>
      <p:sp>
        <p:nvSpPr>
          <p:cNvPr id="20" name="Text 18"/>
          <p:cNvSpPr/>
          <p:nvPr/>
        </p:nvSpPr>
        <p:spPr>
          <a:xfrm>
            <a:off x="4114800" y="3035808"/>
            <a:ext cx="274320" cy="365760"/>
          </a:xfrm>
          <a:prstGeom prst="rect">
            <a:avLst/>
          </a:prstGeom>
          <a:noFill/>
          <a:ln/>
        </p:spPr>
        <p:txBody>
          <a:bodyPr wrap="square" rtlCol="0" anchor="ctr"/>
          <a:lstStyle/>
          <a:p>
            <a:pPr algn="ctr" indent="0" marL="0">
              <a:buNone/>
            </a:pPr>
            <a:r>
              <a:rPr lang="en-US" sz="1600" dirty="0">
                <a:solidFill>
                  <a:srgbClr val="9FB3C8"/>
                </a:solidFill>
              </a:rPr>
              <a:t>↓</a:t>
            </a:r>
            <a:endParaRPr lang="en-US" sz="1600" dirty="0"/>
          </a:p>
        </p:txBody>
      </p:sp>
      <p:sp>
        <p:nvSpPr>
          <p:cNvPr id="21" name="Shape 19"/>
          <p:cNvSpPr/>
          <p:nvPr/>
        </p:nvSpPr>
        <p:spPr>
          <a:xfrm>
            <a:off x="9281160" y="1965960"/>
            <a:ext cx="2423160" cy="1051560"/>
          </a:xfrm>
          <a:prstGeom prst="roundRect">
            <a:avLst>
              <a:gd name="adj" fmla="val 6957"/>
            </a:avLst>
          </a:prstGeom>
          <a:solidFill>
            <a:srgbClr val="141F30"/>
          </a:solidFill>
          <a:ln w="19050">
            <a:solidFill>
              <a:srgbClr val="3DDC97"/>
            </a:solidFill>
            <a:prstDash val="solid"/>
          </a:ln>
        </p:spPr>
      </p:sp>
      <p:sp>
        <p:nvSpPr>
          <p:cNvPr id="22" name="Text 20"/>
          <p:cNvSpPr/>
          <p:nvPr/>
        </p:nvSpPr>
        <p:spPr>
          <a:xfrm>
            <a:off x="9281160" y="1965960"/>
            <a:ext cx="2423160" cy="1051560"/>
          </a:xfrm>
          <a:prstGeom prst="rect">
            <a:avLst/>
          </a:prstGeom>
          <a:noFill/>
          <a:ln/>
        </p:spPr>
        <p:txBody>
          <a:bodyPr wrap="square" rtlCol="0" anchor="ctr"/>
          <a:lstStyle/>
          <a:p>
            <a:pPr algn="ctr" indent="0" marL="0">
              <a:buNone/>
            </a:pPr>
            <a:r>
              <a:rPr lang="en-US" sz="1150" b="1" dirty="0">
                <a:solidFill>
                  <a:srgbClr val="FFFFFF"/>
                </a:solidFill>
              </a:rPr>
              <a:t>WF5</a:t>
            </a:r>
            <a:endParaRPr lang="en-US" sz="1150" dirty="0"/>
          </a:p>
          <a:p>
            <a:pPr algn="ctr" indent="0" marL="0">
              <a:buNone/>
            </a:pPr>
            <a:r>
              <a:rPr lang="en-US" sz="1150" b="1" dirty="0">
                <a:solidFill>
                  <a:srgbClr val="FFFFFF"/>
                </a:solidFill>
              </a:rPr>
              <a:t>Dashboard &amp; Reports (Cron, daily 8AM)</a:t>
            </a:r>
            <a:endParaRPr lang="en-US" sz="1150" dirty="0"/>
          </a:p>
        </p:txBody>
      </p:sp>
      <p:sp>
        <p:nvSpPr>
          <p:cNvPr id="23" name="Shape 21"/>
          <p:cNvSpPr/>
          <p:nvPr/>
        </p:nvSpPr>
        <p:spPr>
          <a:xfrm>
            <a:off x="9281160" y="3429000"/>
            <a:ext cx="2423160" cy="1051560"/>
          </a:xfrm>
          <a:prstGeom prst="roundRect">
            <a:avLst>
              <a:gd name="adj" fmla="val 6957"/>
            </a:avLst>
          </a:prstGeom>
          <a:solidFill>
            <a:srgbClr val="141F30"/>
          </a:solidFill>
          <a:ln w="19050">
            <a:solidFill>
              <a:srgbClr val="E8556B"/>
            </a:solidFill>
            <a:prstDash val="solid"/>
          </a:ln>
        </p:spPr>
      </p:sp>
      <p:sp>
        <p:nvSpPr>
          <p:cNvPr id="24" name="Text 22"/>
          <p:cNvSpPr/>
          <p:nvPr/>
        </p:nvSpPr>
        <p:spPr>
          <a:xfrm>
            <a:off x="9281160" y="3429000"/>
            <a:ext cx="2423160" cy="1051560"/>
          </a:xfrm>
          <a:prstGeom prst="rect">
            <a:avLst/>
          </a:prstGeom>
          <a:noFill/>
          <a:ln/>
        </p:spPr>
        <p:txBody>
          <a:bodyPr wrap="square" rtlCol="0" anchor="ctr"/>
          <a:lstStyle/>
          <a:p>
            <a:pPr algn="ctr" indent="0" marL="0">
              <a:buNone/>
            </a:pPr>
            <a:r>
              <a:rPr lang="en-US" sz="1150" b="1" dirty="0">
                <a:solidFill>
                  <a:srgbClr val="FFFFFF"/>
                </a:solidFill>
              </a:rPr>
              <a:t>WF6</a:t>
            </a:r>
            <a:endParaRPr lang="en-US" sz="1150" dirty="0"/>
          </a:p>
          <a:p>
            <a:pPr algn="ctr" indent="0" marL="0">
              <a:buNone/>
            </a:pPr>
            <a:r>
              <a:rPr lang="en-US" sz="1150" b="1" dirty="0">
                <a:solidFill>
                  <a:srgbClr val="FFFFFF"/>
                </a:solidFill>
              </a:rPr>
              <a:t>Error Handling &amp; Audit Trail (global catcher)</a:t>
            </a:r>
            <a:endParaRPr lang="en-US" sz="1150" dirty="0"/>
          </a:p>
        </p:txBody>
      </p:sp>
      <p:sp>
        <p:nvSpPr>
          <p:cNvPr id="25" name="Text 23"/>
          <p:cNvSpPr/>
          <p:nvPr/>
        </p:nvSpPr>
        <p:spPr>
          <a:xfrm>
            <a:off x="457200" y="4846320"/>
            <a:ext cx="11247120" cy="457200"/>
          </a:xfrm>
          <a:prstGeom prst="rect">
            <a:avLst/>
          </a:prstGeom>
          <a:noFill/>
          <a:ln/>
        </p:spPr>
        <p:txBody>
          <a:bodyPr wrap="square" rtlCol="0" anchor="ctr"/>
          <a:lstStyle/>
          <a:p>
            <a:pPr indent="0" marL="0">
              <a:buNone/>
            </a:pPr>
            <a:r>
              <a:rPr lang="en-US" sz="1150" i="1" dirty="0">
                <a:solidFill>
                  <a:srgbClr val="9FB3C8"/>
                </a:solidFill>
              </a:rPr>
              <a:t>External tools (SIEM, Firewall, IDS, AV, Cloud) → WF1 via webhook   |   Dotted: error path from WF1-WF4 into WF6</a:t>
            </a:r>
            <a:endParaRPr lang="en-US" sz="1150" dirty="0"/>
          </a:p>
        </p:txBody>
      </p:sp>
      <p:sp>
        <p:nvSpPr>
          <p:cNvPr id="26" name="Text 24"/>
          <p:cNvSpPr/>
          <p:nvPr/>
        </p:nvSpPr>
        <p:spPr>
          <a:xfrm>
            <a:off x="11338560" y="6492240"/>
            <a:ext cx="731520" cy="274320"/>
          </a:xfrm>
          <a:prstGeom prst="rect">
            <a:avLst/>
          </a:prstGeom>
          <a:noFill/>
          <a:ln/>
        </p:spPr>
        <p:txBody>
          <a:bodyPr wrap="square" rtlCol="0" anchor="ctr"/>
          <a:lstStyle/>
          <a:p>
            <a:pPr algn="r" indent="0" marL="0">
              <a:buNone/>
            </a:pPr>
            <a:r>
              <a:rPr lang="en-US" sz="1000" dirty="0">
                <a:solidFill>
                  <a:srgbClr val="9FB3C8"/>
                </a:solidFill>
              </a:rPr>
              <a:t>06 / 12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300" b="1" spc="200" kern="0" dirty="0">
                <a:solidFill>
                  <a:srgbClr val="3DDC97"/>
                </a:solidFill>
                <a:latin typeface="Arial" pitchFamily="34" charset="0"/>
                <a:ea typeface="Arial" pitchFamily="34" charset="-122"/>
                <a:cs typeface="Arial" pitchFamily="34" charset="-120"/>
              </a:rPr>
              <a:t>IMPLEMENTATION</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6 independent workflows, 35 nodes total</a:t>
            </a:r>
            <a:endParaRPr lang="en-US" sz="3200" dirty="0"/>
          </a:p>
        </p:txBody>
      </p:sp>
      <p:sp>
        <p:nvSpPr>
          <p:cNvPr id="4" name="Shape 2"/>
          <p:cNvSpPr/>
          <p:nvPr/>
        </p:nvSpPr>
        <p:spPr>
          <a:xfrm>
            <a:off x="548640" y="1828800"/>
            <a:ext cx="3749040" cy="457200"/>
          </a:xfrm>
          <a:prstGeom prst="rect">
            <a:avLst/>
          </a:prstGeom>
          <a:solidFill>
            <a:srgbClr val="1B2740"/>
          </a:solidFill>
          <a:ln/>
        </p:spPr>
      </p:sp>
      <p:sp>
        <p:nvSpPr>
          <p:cNvPr id="5" name="Text 3"/>
          <p:cNvSpPr/>
          <p:nvPr/>
        </p:nvSpPr>
        <p:spPr>
          <a:xfrm>
            <a:off x="658368" y="1828800"/>
            <a:ext cx="3566160" cy="457200"/>
          </a:xfrm>
          <a:prstGeom prst="rect">
            <a:avLst/>
          </a:prstGeom>
          <a:noFill/>
          <a:ln/>
        </p:spPr>
        <p:txBody>
          <a:bodyPr wrap="square" rtlCol="0" anchor="ctr"/>
          <a:lstStyle/>
          <a:p>
            <a:pPr indent="0" marL="0">
              <a:buNone/>
            </a:pPr>
            <a:r>
              <a:rPr lang="en-US" sz="1200" b="1" dirty="0">
                <a:solidFill>
                  <a:srgbClr val="3DDC97"/>
                </a:solidFill>
              </a:rPr>
              <a:t>Workflow</a:t>
            </a:r>
            <a:endParaRPr lang="en-US" sz="1200" dirty="0"/>
          </a:p>
        </p:txBody>
      </p:sp>
      <p:sp>
        <p:nvSpPr>
          <p:cNvPr id="6" name="Shape 4"/>
          <p:cNvSpPr/>
          <p:nvPr/>
        </p:nvSpPr>
        <p:spPr>
          <a:xfrm>
            <a:off x="4297680" y="1828800"/>
            <a:ext cx="2377440" cy="457200"/>
          </a:xfrm>
          <a:prstGeom prst="rect">
            <a:avLst/>
          </a:prstGeom>
          <a:solidFill>
            <a:srgbClr val="1B2740"/>
          </a:solidFill>
          <a:ln/>
        </p:spPr>
      </p:sp>
      <p:sp>
        <p:nvSpPr>
          <p:cNvPr id="7" name="Text 5"/>
          <p:cNvSpPr/>
          <p:nvPr/>
        </p:nvSpPr>
        <p:spPr>
          <a:xfrm>
            <a:off x="4407408" y="1828800"/>
            <a:ext cx="2194560" cy="457200"/>
          </a:xfrm>
          <a:prstGeom prst="rect">
            <a:avLst/>
          </a:prstGeom>
          <a:noFill/>
          <a:ln/>
        </p:spPr>
        <p:txBody>
          <a:bodyPr wrap="square" rtlCol="0" anchor="ctr"/>
          <a:lstStyle/>
          <a:p>
            <a:pPr indent="0" marL="0">
              <a:buNone/>
            </a:pPr>
            <a:r>
              <a:rPr lang="en-US" sz="1200" b="1" dirty="0">
                <a:solidFill>
                  <a:srgbClr val="3DDC97"/>
                </a:solidFill>
              </a:rPr>
              <a:t>Trigger</a:t>
            </a:r>
            <a:endParaRPr lang="en-US" sz="1200" dirty="0"/>
          </a:p>
        </p:txBody>
      </p:sp>
      <p:sp>
        <p:nvSpPr>
          <p:cNvPr id="8" name="Shape 6"/>
          <p:cNvSpPr/>
          <p:nvPr/>
        </p:nvSpPr>
        <p:spPr>
          <a:xfrm>
            <a:off x="6675120" y="1828800"/>
            <a:ext cx="1005840" cy="457200"/>
          </a:xfrm>
          <a:prstGeom prst="rect">
            <a:avLst/>
          </a:prstGeom>
          <a:solidFill>
            <a:srgbClr val="1B2740"/>
          </a:solidFill>
          <a:ln/>
        </p:spPr>
      </p:sp>
      <p:sp>
        <p:nvSpPr>
          <p:cNvPr id="9" name="Text 7"/>
          <p:cNvSpPr/>
          <p:nvPr/>
        </p:nvSpPr>
        <p:spPr>
          <a:xfrm>
            <a:off x="6784848" y="1828800"/>
            <a:ext cx="822960" cy="457200"/>
          </a:xfrm>
          <a:prstGeom prst="rect">
            <a:avLst/>
          </a:prstGeom>
          <a:noFill/>
          <a:ln/>
        </p:spPr>
        <p:txBody>
          <a:bodyPr wrap="square" rtlCol="0" anchor="ctr"/>
          <a:lstStyle/>
          <a:p>
            <a:pPr indent="0" marL="0">
              <a:buNone/>
            </a:pPr>
            <a:r>
              <a:rPr lang="en-US" sz="1200" b="1" dirty="0">
                <a:solidFill>
                  <a:srgbClr val="3DDC97"/>
                </a:solidFill>
              </a:rPr>
              <a:t>Nodes</a:t>
            </a:r>
            <a:endParaRPr lang="en-US" sz="1200" dirty="0"/>
          </a:p>
        </p:txBody>
      </p:sp>
      <p:sp>
        <p:nvSpPr>
          <p:cNvPr id="10" name="Shape 8"/>
          <p:cNvSpPr/>
          <p:nvPr/>
        </p:nvSpPr>
        <p:spPr>
          <a:xfrm>
            <a:off x="7680960" y="1828800"/>
            <a:ext cx="4114800" cy="457200"/>
          </a:xfrm>
          <a:prstGeom prst="rect">
            <a:avLst/>
          </a:prstGeom>
          <a:solidFill>
            <a:srgbClr val="1B2740"/>
          </a:solidFill>
          <a:ln/>
        </p:spPr>
      </p:sp>
      <p:sp>
        <p:nvSpPr>
          <p:cNvPr id="11" name="Text 9"/>
          <p:cNvSpPr/>
          <p:nvPr/>
        </p:nvSpPr>
        <p:spPr>
          <a:xfrm>
            <a:off x="7790688" y="1828800"/>
            <a:ext cx="3931920" cy="457200"/>
          </a:xfrm>
          <a:prstGeom prst="rect">
            <a:avLst/>
          </a:prstGeom>
          <a:noFill/>
          <a:ln/>
        </p:spPr>
        <p:txBody>
          <a:bodyPr wrap="square" rtlCol="0" anchor="ctr"/>
          <a:lstStyle/>
          <a:p>
            <a:pPr indent="0" marL="0">
              <a:buNone/>
            </a:pPr>
            <a:r>
              <a:rPr lang="en-US" sz="1200" b="1" dirty="0">
                <a:solidFill>
                  <a:srgbClr val="3DDC97"/>
                </a:solidFill>
              </a:rPr>
              <a:t>Core Job</a:t>
            </a:r>
            <a:endParaRPr lang="en-US" sz="1200" dirty="0"/>
          </a:p>
        </p:txBody>
      </p:sp>
      <p:sp>
        <p:nvSpPr>
          <p:cNvPr id="12" name="Shape 10"/>
          <p:cNvSpPr/>
          <p:nvPr/>
        </p:nvSpPr>
        <p:spPr>
          <a:xfrm>
            <a:off x="548640" y="2286000"/>
            <a:ext cx="3749040" cy="566928"/>
          </a:xfrm>
          <a:prstGeom prst="rect">
            <a:avLst/>
          </a:prstGeom>
          <a:solidFill>
            <a:srgbClr val="0B1220"/>
          </a:solidFill>
          <a:ln w="6350">
            <a:solidFill>
              <a:srgbClr val="0F1826"/>
            </a:solidFill>
            <a:prstDash val="solid"/>
          </a:ln>
        </p:spPr>
      </p:sp>
      <p:sp>
        <p:nvSpPr>
          <p:cNvPr id="13" name="Text 11"/>
          <p:cNvSpPr/>
          <p:nvPr/>
        </p:nvSpPr>
        <p:spPr>
          <a:xfrm>
            <a:off x="658368" y="2286000"/>
            <a:ext cx="3566160" cy="566928"/>
          </a:xfrm>
          <a:prstGeom prst="rect">
            <a:avLst/>
          </a:prstGeom>
          <a:noFill/>
          <a:ln/>
        </p:spPr>
        <p:txBody>
          <a:bodyPr wrap="square" rtlCol="0" anchor="ctr"/>
          <a:lstStyle/>
          <a:p>
            <a:pPr indent="0" marL="0">
              <a:buNone/>
            </a:pPr>
            <a:r>
              <a:rPr lang="en-US" sz="1150" b="1" dirty="0">
                <a:solidFill>
                  <a:srgbClr val="FFFFFF"/>
                </a:solidFill>
              </a:rPr>
              <a:t>WF1 - Alert Collection</a:t>
            </a:r>
            <a:endParaRPr lang="en-US" sz="1150" dirty="0"/>
          </a:p>
        </p:txBody>
      </p:sp>
      <p:sp>
        <p:nvSpPr>
          <p:cNvPr id="14" name="Shape 12"/>
          <p:cNvSpPr/>
          <p:nvPr/>
        </p:nvSpPr>
        <p:spPr>
          <a:xfrm>
            <a:off x="4297680" y="2286000"/>
            <a:ext cx="2377440" cy="566928"/>
          </a:xfrm>
          <a:prstGeom prst="rect">
            <a:avLst/>
          </a:prstGeom>
          <a:solidFill>
            <a:srgbClr val="0B1220"/>
          </a:solidFill>
          <a:ln w="6350">
            <a:solidFill>
              <a:srgbClr val="0F1826"/>
            </a:solidFill>
            <a:prstDash val="solid"/>
          </a:ln>
        </p:spPr>
      </p:sp>
      <p:sp>
        <p:nvSpPr>
          <p:cNvPr id="15" name="Text 13"/>
          <p:cNvSpPr/>
          <p:nvPr/>
        </p:nvSpPr>
        <p:spPr>
          <a:xfrm>
            <a:off x="4407408" y="2286000"/>
            <a:ext cx="2194560" cy="566928"/>
          </a:xfrm>
          <a:prstGeom prst="rect">
            <a:avLst/>
          </a:prstGeom>
          <a:noFill/>
          <a:ln/>
        </p:spPr>
        <p:txBody>
          <a:bodyPr wrap="square" rtlCol="0" anchor="ctr"/>
          <a:lstStyle/>
          <a:p>
            <a:pPr indent="0" marL="0">
              <a:buNone/>
            </a:pPr>
            <a:r>
              <a:rPr lang="en-US" sz="1150" dirty="0">
                <a:solidFill>
                  <a:srgbClr val="FFFFFF"/>
                </a:solidFill>
              </a:rPr>
              <a:t>Webhook</a:t>
            </a:r>
            <a:endParaRPr lang="en-US" sz="1150" dirty="0"/>
          </a:p>
        </p:txBody>
      </p:sp>
      <p:sp>
        <p:nvSpPr>
          <p:cNvPr id="16" name="Shape 14"/>
          <p:cNvSpPr/>
          <p:nvPr/>
        </p:nvSpPr>
        <p:spPr>
          <a:xfrm>
            <a:off x="6675120" y="2286000"/>
            <a:ext cx="1005840" cy="566928"/>
          </a:xfrm>
          <a:prstGeom prst="rect">
            <a:avLst/>
          </a:prstGeom>
          <a:solidFill>
            <a:srgbClr val="0B1220"/>
          </a:solidFill>
          <a:ln w="6350">
            <a:solidFill>
              <a:srgbClr val="0F1826"/>
            </a:solidFill>
            <a:prstDash val="solid"/>
          </a:ln>
        </p:spPr>
      </p:sp>
      <p:sp>
        <p:nvSpPr>
          <p:cNvPr id="17" name="Text 15"/>
          <p:cNvSpPr/>
          <p:nvPr/>
        </p:nvSpPr>
        <p:spPr>
          <a:xfrm>
            <a:off x="6784848" y="2286000"/>
            <a:ext cx="822960" cy="566928"/>
          </a:xfrm>
          <a:prstGeom prst="rect">
            <a:avLst/>
          </a:prstGeom>
          <a:noFill/>
          <a:ln/>
        </p:spPr>
        <p:txBody>
          <a:bodyPr wrap="square" rtlCol="0" anchor="ctr"/>
          <a:lstStyle/>
          <a:p>
            <a:pPr indent="0" marL="0">
              <a:buNone/>
            </a:pPr>
            <a:r>
              <a:rPr lang="en-US" sz="1150" dirty="0">
                <a:solidFill>
                  <a:srgbClr val="3DDC97"/>
                </a:solidFill>
              </a:rPr>
              <a:t>6</a:t>
            </a:r>
            <a:endParaRPr lang="en-US" sz="1150" dirty="0"/>
          </a:p>
        </p:txBody>
      </p:sp>
      <p:sp>
        <p:nvSpPr>
          <p:cNvPr id="18" name="Shape 16"/>
          <p:cNvSpPr/>
          <p:nvPr/>
        </p:nvSpPr>
        <p:spPr>
          <a:xfrm>
            <a:off x="7680960" y="2286000"/>
            <a:ext cx="4114800" cy="566928"/>
          </a:xfrm>
          <a:prstGeom prst="rect">
            <a:avLst/>
          </a:prstGeom>
          <a:solidFill>
            <a:srgbClr val="0B1220"/>
          </a:solidFill>
          <a:ln w="6350">
            <a:solidFill>
              <a:srgbClr val="0F1826"/>
            </a:solidFill>
            <a:prstDash val="solid"/>
          </a:ln>
        </p:spPr>
      </p:sp>
      <p:sp>
        <p:nvSpPr>
          <p:cNvPr id="19" name="Text 17"/>
          <p:cNvSpPr/>
          <p:nvPr/>
        </p:nvSpPr>
        <p:spPr>
          <a:xfrm>
            <a:off x="7790688" y="2286000"/>
            <a:ext cx="3931920" cy="566928"/>
          </a:xfrm>
          <a:prstGeom prst="rect">
            <a:avLst/>
          </a:prstGeom>
          <a:noFill/>
          <a:ln/>
        </p:spPr>
        <p:txBody>
          <a:bodyPr wrap="square" rtlCol="0" anchor="ctr"/>
          <a:lstStyle/>
          <a:p>
            <a:pPr indent="0" marL="0">
              <a:buNone/>
            </a:pPr>
            <a:r>
              <a:rPr lang="en-US" sz="1150" dirty="0">
                <a:solidFill>
                  <a:srgbClr val="FFFFFF"/>
                </a:solidFill>
              </a:rPr>
              <a:t>Intake, validate, normalize incoming alerts</a:t>
            </a:r>
            <a:endParaRPr lang="en-US" sz="1150" dirty="0"/>
          </a:p>
        </p:txBody>
      </p:sp>
      <p:sp>
        <p:nvSpPr>
          <p:cNvPr id="20" name="Shape 18"/>
          <p:cNvSpPr/>
          <p:nvPr/>
        </p:nvSpPr>
        <p:spPr>
          <a:xfrm>
            <a:off x="548640" y="2852928"/>
            <a:ext cx="3749040" cy="566928"/>
          </a:xfrm>
          <a:prstGeom prst="rect">
            <a:avLst/>
          </a:prstGeom>
          <a:solidFill>
            <a:srgbClr val="141F30"/>
          </a:solidFill>
          <a:ln w="6350">
            <a:solidFill>
              <a:srgbClr val="0F1826"/>
            </a:solidFill>
            <a:prstDash val="solid"/>
          </a:ln>
        </p:spPr>
      </p:sp>
      <p:sp>
        <p:nvSpPr>
          <p:cNvPr id="21" name="Text 19"/>
          <p:cNvSpPr/>
          <p:nvPr/>
        </p:nvSpPr>
        <p:spPr>
          <a:xfrm>
            <a:off x="658368" y="2852928"/>
            <a:ext cx="3566160" cy="566928"/>
          </a:xfrm>
          <a:prstGeom prst="rect">
            <a:avLst/>
          </a:prstGeom>
          <a:noFill/>
          <a:ln/>
        </p:spPr>
        <p:txBody>
          <a:bodyPr wrap="square" rtlCol="0" anchor="ctr"/>
          <a:lstStyle/>
          <a:p>
            <a:pPr indent="0" marL="0">
              <a:buNone/>
            </a:pPr>
            <a:r>
              <a:rPr lang="en-US" sz="1150" b="1" dirty="0">
                <a:solidFill>
                  <a:srgbClr val="FFFFFF"/>
                </a:solidFill>
              </a:rPr>
              <a:t>WF2 - AI Classification</a:t>
            </a:r>
            <a:endParaRPr lang="en-US" sz="1150" dirty="0"/>
          </a:p>
        </p:txBody>
      </p:sp>
      <p:sp>
        <p:nvSpPr>
          <p:cNvPr id="22" name="Shape 20"/>
          <p:cNvSpPr/>
          <p:nvPr/>
        </p:nvSpPr>
        <p:spPr>
          <a:xfrm>
            <a:off x="4297680" y="2852928"/>
            <a:ext cx="2377440" cy="566928"/>
          </a:xfrm>
          <a:prstGeom prst="rect">
            <a:avLst/>
          </a:prstGeom>
          <a:solidFill>
            <a:srgbClr val="141F30"/>
          </a:solidFill>
          <a:ln w="6350">
            <a:solidFill>
              <a:srgbClr val="0F1826"/>
            </a:solidFill>
            <a:prstDash val="solid"/>
          </a:ln>
        </p:spPr>
      </p:sp>
      <p:sp>
        <p:nvSpPr>
          <p:cNvPr id="23" name="Text 21"/>
          <p:cNvSpPr/>
          <p:nvPr/>
        </p:nvSpPr>
        <p:spPr>
          <a:xfrm>
            <a:off x="4407408" y="2852928"/>
            <a:ext cx="2194560" cy="566928"/>
          </a:xfrm>
          <a:prstGeom prst="rect">
            <a:avLst/>
          </a:prstGeom>
          <a:noFill/>
          <a:ln/>
        </p:spPr>
        <p:txBody>
          <a:bodyPr wrap="square" rtlCol="0" anchor="ctr"/>
          <a:lstStyle/>
          <a:p>
            <a:pPr indent="0" marL="0">
              <a:buNone/>
            </a:pPr>
            <a:r>
              <a:rPr lang="en-US" sz="1150" dirty="0">
                <a:solidFill>
                  <a:srgbClr val="FFFFFF"/>
                </a:solidFill>
              </a:rPr>
              <a:t>Execute Workflow</a:t>
            </a:r>
            <a:endParaRPr lang="en-US" sz="1150" dirty="0"/>
          </a:p>
        </p:txBody>
      </p:sp>
      <p:sp>
        <p:nvSpPr>
          <p:cNvPr id="24" name="Shape 22"/>
          <p:cNvSpPr/>
          <p:nvPr/>
        </p:nvSpPr>
        <p:spPr>
          <a:xfrm>
            <a:off x="6675120" y="2852928"/>
            <a:ext cx="1005840" cy="566928"/>
          </a:xfrm>
          <a:prstGeom prst="rect">
            <a:avLst/>
          </a:prstGeom>
          <a:solidFill>
            <a:srgbClr val="141F30"/>
          </a:solidFill>
          <a:ln w="6350">
            <a:solidFill>
              <a:srgbClr val="0F1826"/>
            </a:solidFill>
            <a:prstDash val="solid"/>
          </a:ln>
        </p:spPr>
      </p:sp>
      <p:sp>
        <p:nvSpPr>
          <p:cNvPr id="25" name="Text 23"/>
          <p:cNvSpPr/>
          <p:nvPr/>
        </p:nvSpPr>
        <p:spPr>
          <a:xfrm>
            <a:off x="6784848" y="2852928"/>
            <a:ext cx="822960" cy="566928"/>
          </a:xfrm>
          <a:prstGeom prst="rect">
            <a:avLst/>
          </a:prstGeom>
          <a:noFill/>
          <a:ln/>
        </p:spPr>
        <p:txBody>
          <a:bodyPr wrap="square" rtlCol="0" anchor="ctr"/>
          <a:lstStyle/>
          <a:p>
            <a:pPr indent="0" marL="0">
              <a:buNone/>
            </a:pPr>
            <a:r>
              <a:rPr lang="en-US" sz="1150" dirty="0">
                <a:solidFill>
                  <a:srgbClr val="3DDC97"/>
                </a:solidFill>
              </a:rPr>
              <a:t>4</a:t>
            </a:r>
            <a:endParaRPr lang="en-US" sz="1150" dirty="0"/>
          </a:p>
        </p:txBody>
      </p:sp>
      <p:sp>
        <p:nvSpPr>
          <p:cNvPr id="26" name="Shape 24"/>
          <p:cNvSpPr/>
          <p:nvPr/>
        </p:nvSpPr>
        <p:spPr>
          <a:xfrm>
            <a:off x="7680960" y="2852928"/>
            <a:ext cx="4114800" cy="566928"/>
          </a:xfrm>
          <a:prstGeom prst="rect">
            <a:avLst/>
          </a:prstGeom>
          <a:solidFill>
            <a:srgbClr val="141F30"/>
          </a:solidFill>
          <a:ln w="6350">
            <a:solidFill>
              <a:srgbClr val="0F1826"/>
            </a:solidFill>
            <a:prstDash val="solid"/>
          </a:ln>
        </p:spPr>
      </p:sp>
      <p:sp>
        <p:nvSpPr>
          <p:cNvPr id="27" name="Text 25"/>
          <p:cNvSpPr/>
          <p:nvPr/>
        </p:nvSpPr>
        <p:spPr>
          <a:xfrm>
            <a:off x="7790688" y="2852928"/>
            <a:ext cx="3931920" cy="566928"/>
          </a:xfrm>
          <a:prstGeom prst="rect">
            <a:avLst/>
          </a:prstGeom>
          <a:noFill/>
          <a:ln/>
        </p:spPr>
        <p:txBody>
          <a:bodyPr wrap="square" rtlCol="0" anchor="ctr"/>
          <a:lstStyle/>
          <a:p>
            <a:pPr indent="0" marL="0">
              <a:buNone/>
            </a:pPr>
            <a:r>
              <a:rPr lang="en-US" sz="1150" dirty="0">
                <a:solidFill>
                  <a:srgbClr val="FFFFFF"/>
                </a:solidFill>
              </a:rPr>
              <a:t>Groq AI severity/category/team + retry + fallback</a:t>
            </a:r>
            <a:endParaRPr lang="en-US" sz="1150" dirty="0"/>
          </a:p>
        </p:txBody>
      </p:sp>
      <p:sp>
        <p:nvSpPr>
          <p:cNvPr id="28" name="Shape 26"/>
          <p:cNvSpPr/>
          <p:nvPr/>
        </p:nvSpPr>
        <p:spPr>
          <a:xfrm>
            <a:off x="548640" y="3419856"/>
            <a:ext cx="3749040" cy="566928"/>
          </a:xfrm>
          <a:prstGeom prst="rect">
            <a:avLst/>
          </a:prstGeom>
          <a:solidFill>
            <a:srgbClr val="0B1220"/>
          </a:solidFill>
          <a:ln w="6350">
            <a:solidFill>
              <a:srgbClr val="0F1826"/>
            </a:solidFill>
            <a:prstDash val="solid"/>
          </a:ln>
        </p:spPr>
      </p:sp>
      <p:sp>
        <p:nvSpPr>
          <p:cNvPr id="29" name="Text 27"/>
          <p:cNvSpPr/>
          <p:nvPr/>
        </p:nvSpPr>
        <p:spPr>
          <a:xfrm>
            <a:off x="658368" y="3419856"/>
            <a:ext cx="3566160" cy="566928"/>
          </a:xfrm>
          <a:prstGeom prst="rect">
            <a:avLst/>
          </a:prstGeom>
          <a:noFill/>
          <a:ln/>
        </p:spPr>
        <p:txBody>
          <a:bodyPr wrap="square" rtlCol="0" anchor="ctr"/>
          <a:lstStyle/>
          <a:p>
            <a:pPr indent="0" marL="0">
              <a:buNone/>
            </a:pPr>
            <a:r>
              <a:rPr lang="en-US" sz="1150" b="1" dirty="0">
                <a:solidFill>
                  <a:srgbClr val="FFFFFF"/>
                </a:solidFill>
              </a:rPr>
              <a:t>WF3 - Assignment &amp; Escalation</a:t>
            </a:r>
            <a:endParaRPr lang="en-US" sz="1150" dirty="0"/>
          </a:p>
        </p:txBody>
      </p:sp>
      <p:sp>
        <p:nvSpPr>
          <p:cNvPr id="30" name="Shape 28"/>
          <p:cNvSpPr/>
          <p:nvPr/>
        </p:nvSpPr>
        <p:spPr>
          <a:xfrm>
            <a:off x="4297680" y="3419856"/>
            <a:ext cx="2377440" cy="566928"/>
          </a:xfrm>
          <a:prstGeom prst="rect">
            <a:avLst/>
          </a:prstGeom>
          <a:solidFill>
            <a:srgbClr val="0B1220"/>
          </a:solidFill>
          <a:ln w="6350">
            <a:solidFill>
              <a:srgbClr val="0F1826"/>
            </a:solidFill>
            <a:prstDash val="solid"/>
          </a:ln>
        </p:spPr>
      </p:sp>
      <p:sp>
        <p:nvSpPr>
          <p:cNvPr id="31" name="Text 29"/>
          <p:cNvSpPr/>
          <p:nvPr/>
        </p:nvSpPr>
        <p:spPr>
          <a:xfrm>
            <a:off x="4407408" y="3419856"/>
            <a:ext cx="2194560" cy="566928"/>
          </a:xfrm>
          <a:prstGeom prst="rect">
            <a:avLst/>
          </a:prstGeom>
          <a:noFill/>
          <a:ln/>
        </p:spPr>
        <p:txBody>
          <a:bodyPr wrap="square" rtlCol="0" anchor="ctr"/>
          <a:lstStyle/>
          <a:p>
            <a:pPr indent="0" marL="0">
              <a:buNone/>
            </a:pPr>
            <a:r>
              <a:rPr lang="en-US" sz="1150" dirty="0">
                <a:solidFill>
                  <a:srgbClr val="FFFFFF"/>
                </a:solidFill>
              </a:rPr>
              <a:t>Execute Workflow</a:t>
            </a:r>
            <a:endParaRPr lang="en-US" sz="1150" dirty="0"/>
          </a:p>
        </p:txBody>
      </p:sp>
      <p:sp>
        <p:nvSpPr>
          <p:cNvPr id="32" name="Shape 30"/>
          <p:cNvSpPr/>
          <p:nvPr/>
        </p:nvSpPr>
        <p:spPr>
          <a:xfrm>
            <a:off x="6675120" y="3419856"/>
            <a:ext cx="1005840" cy="566928"/>
          </a:xfrm>
          <a:prstGeom prst="rect">
            <a:avLst/>
          </a:prstGeom>
          <a:solidFill>
            <a:srgbClr val="0B1220"/>
          </a:solidFill>
          <a:ln w="6350">
            <a:solidFill>
              <a:srgbClr val="0F1826"/>
            </a:solidFill>
            <a:prstDash val="solid"/>
          </a:ln>
        </p:spPr>
      </p:sp>
      <p:sp>
        <p:nvSpPr>
          <p:cNvPr id="33" name="Text 31"/>
          <p:cNvSpPr/>
          <p:nvPr/>
        </p:nvSpPr>
        <p:spPr>
          <a:xfrm>
            <a:off x="6784848" y="3419856"/>
            <a:ext cx="822960" cy="566928"/>
          </a:xfrm>
          <a:prstGeom prst="rect">
            <a:avLst/>
          </a:prstGeom>
          <a:noFill/>
          <a:ln/>
        </p:spPr>
        <p:txBody>
          <a:bodyPr wrap="square" rtlCol="0" anchor="ctr"/>
          <a:lstStyle/>
          <a:p>
            <a:pPr indent="0" marL="0">
              <a:buNone/>
            </a:pPr>
            <a:r>
              <a:rPr lang="en-US" sz="1150" dirty="0">
                <a:solidFill>
                  <a:srgbClr val="3DDC97"/>
                </a:solidFill>
              </a:rPr>
              <a:t>8</a:t>
            </a:r>
            <a:endParaRPr lang="en-US" sz="1150" dirty="0"/>
          </a:p>
        </p:txBody>
      </p:sp>
      <p:sp>
        <p:nvSpPr>
          <p:cNvPr id="34" name="Shape 32"/>
          <p:cNvSpPr/>
          <p:nvPr/>
        </p:nvSpPr>
        <p:spPr>
          <a:xfrm>
            <a:off x="7680960" y="3419856"/>
            <a:ext cx="4114800" cy="566928"/>
          </a:xfrm>
          <a:prstGeom prst="rect">
            <a:avLst/>
          </a:prstGeom>
          <a:solidFill>
            <a:srgbClr val="0B1220"/>
          </a:solidFill>
          <a:ln w="6350">
            <a:solidFill>
              <a:srgbClr val="0F1826"/>
            </a:solidFill>
            <a:prstDash val="solid"/>
          </a:ln>
        </p:spPr>
      </p:sp>
      <p:sp>
        <p:nvSpPr>
          <p:cNvPr id="35" name="Text 33"/>
          <p:cNvSpPr/>
          <p:nvPr/>
        </p:nvSpPr>
        <p:spPr>
          <a:xfrm>
            <a:off x="7790688" y="3419856"/>
            <a:ext cx="3931920" cy="566928"/>
          </a:xfrm>
          <a:prstGeom prst="rect">
            <a:avLst/>
          </a:prstGeom>
          <a:noFill/>
          <a:ln/>
        </p:spPr>
        <p:txBody>
          <a:bodyPr wrap="square" rtlCol="0" anchor="ctr"/>
          <a:lstStyle/>
          <a:p>
            <a:pPr indent="0" marL="0">
              <a:buNone/>
            </a:pPr>
            <a:r>
              <a:rPr lang="en-US" sz="1150" dirty="0">
                <a:solidFill>
                  <a:srgbClr val="FFFFFF"/>
                </a:solidFill>
              </a:rPr>
              <a:t>Severity routing + human approval for Critical</a:t>
            </a:r>
            <a:endParaRPr lang="en-US" sz="1150" dirty="0"/>
          </a:p>
        </p:txBody>
      </p:sp>
      <p:sp>
        <p:nvSpPr>
          <p:cNvPr id="36" name="Shape 34"/>
          <p:cNvSpPr/>
          <p:nvPr/>
        </p:nvSpPr>
        <p:spPr>
          <a:xfrm>
            <a:off x="548640" y="3986784"/>
            <a:ext cx="3749040" cy="566928"/>
          </a:xfrm>
          <a:prstGeom prst="rect">
            <a:avLst/>
          </a:prstGeom>
          <a:solidFill>
            <a:srgbClr val="141F30"/>
          </a:solidFill>
          <a:ln w="6350">
            <a:solidFill>
              <a:srgbClr val="0F1826"/>
            </a:solidFill>
            <a:prstDash val="solid"/>
          </a:ln>
        </p:spPr>
      </p:sp>
      <p:sp>
        <p:nvSpPr>
          <p:cNvPr id="37" name="Text 35"/>
          <p:cNvSpPr/>
          <p:nvPr/>
        </p:nvSpPr>
        <p:spPr>
          <a:xfrm>
            <a:off x="658368" y="3986784"/>
            <a:ext cx="3566160" cy="566928"/>
          </a:xfrm>
          <a:prstGeom prst="rect">
            <a:avLst/>
          </a:prstGeom>
          <a:noFill/>
          <a:ln/>
        </p:spPr>
        <p:txBody>
          <a:bodyPr wrap="square" rtlCol="0" anchor="ctr"/>
          <a:lstStyle/>
          <a:p>
            <a:pPr indent="0" marL="0">
              <a:buNone/>
            </a:pPr>
            <a:r>
              <a:rPr lang="en-US" sz="1150" b="1" dirty="0">
                <a:solidFill>
                  <a:srgbClr val="FFFFFF"/>
                </a:solidFill>
              </a:rPr>
              <a:t>WF4 - Resolution &amp; Notifications</a:t>
            </a:r>
            <a:endParaRPr lang="en-US" sz="1150" dirty="0"/>
          </a:p>
        </p:txBody>
      </p:sp>
      <p:sp>
        <p:nvSpPr>
          <p:cNvPr id="38" name="Shape 36"/>
          <p:cNvSpPr/>
          <p:nvPr/>
        </p:nvSpPr>
        <p:spPr>
          <a:xfrm>
            <a:off x="4297680" y="3986784"/>
            <a:ext cx="2377440" cy="566928"/>
          </a:xfrm>
          <a:prstGeom prst="rect">
            <a:avLst/>
          </a:prstGeom>
          <a:solidFill>
            <a:srgbClr val="141F30"/>
          </a:solidFill>
          <a:ln w="6350">
            <a:solidFill>
              <a:srgbClr val="0F1826"/>
            </a:solidFill>
            <a:prstDash val="solid"/>
          </a:ln>
        </p:spPr>
      </p:sp>
      <p:sp>
        <p:nvSpPr>
          <p:cNvPr id="39" name="Text 37"/>
          <p:cNvSpPr/>
          <p:nvPr/>
        </p:nvSpPr>
        <p:spPr>
          <a:xfrm>
            <a:off x="4407408" y="3986784"/>
            <a:ext cx="2194560" cy="566928"/>
          </a:xfrm>
          <a:prstGeom prst="rect">
            <a:avLst/>
          </a:prstGeom>
          <a:noFill/>
          <a:ln/>
        </p:spPr>
        <p:txBody>
          <a:bodyPr wrap="square" rtlCol="0" anchor="ctr"/>
          <a:lstStyle/>
          <a:p>
            <a:pPr indent="0" marL="0">
              <a:buNone/>
            </a:pPr>
            <a:r>
              <a:rPr lang="en-US" sz="1150" dirty="0">
                <a:solidFill>
                  <a:srgbClr val="FFFFFF"/>
                </a:solidFill>
              </a:rPr>
              <a:t>Execute Workflow</a:t>
            </a:r>
            <a:endParaRPr lang="en-US" sz="1150" dirty="0"/>
          </a:p>
        </p:txBody>
      </p:sp>
      <p:sp>
        <p:nvSpPr>
          <p:cNvPr id="40" name="Shape 38"/>
          <p:cNvSpPr/>
          <p:nvPr/>
        </p:nvSpPr>
        <p:spPr>
          <a:xfrm>
            <a:off x="6675120" y="3986784"/>
            <a:ext cx="1005840" cy="566928"/>
          </a:xfrm>
          <a:prstGeom prst="rect">
            <a:avLst/>
          </a:prstGeom>
          <a:solidFill>
            <a:srgbClr val="141F30"/>
          </a:solidFill>
          <a:ln w="6350">
            <a:solidFill>
              <a:srgbClr val="0F1826"/>
            </a:solidFill>
            <a:prstDash val="solid"/>
          </a:ln>
        </p:spPr>
      </p:sp>
      <p:sp>
        <p:nvSpPr>
          <p:cNvPr id="41" name="Text 39"/>
          <p:cNvSpPr/>
          <p:nvPr/>
        </p:nvSpPr>
        <p:spPr>
          <a:xfrm>
            <a:off x="6784848" y="3986784"/>
            <a:ext cx="822960" cy="566928"/>
          </a:xfrm>
          <a:prstGeom prst="rect">
            <a:avLst/>
          </a:prstGeom>
          <a:noFill/>
          <a:ln/>
        </p:spPr>
        <p:txBody>
          <a:bodyPr wrap="square" rtlCol="0" anchor="ctr"/>
          <a:lstStyle/>
          <a:p>
            <a:pPr indent="0" marL="0">
              <a:buNone/>
            </a:pPr>
            <a:r>
              <a:rPr lang="en-US" sz="1150" dirty="0">
                <a:solidFill>
                  <a:srgbClr val="3DDC97"/>
                </a:solidFill>
              </a:rPr>
              <a:t>8</a:t>
            </a:r>
            <a:endParaRPr lang="en-US" sz="1150" dirty="0"/>
          </a:p>
        </p:txBody>
      </p:sp>
      <p:sp>
        <p:nvSpPr>
          <p:cNvPr id="42" name="Shape 40"/>
          <p:cNvSpPr/>
          <p:nvPr/>
        </p:nvSpPr>
        <p:spPr>
          <a:xfrm>
            <a:off x="7680960" y="3986784"/>
            <a:ext cx="4114800" cy="566928"/>
          </a:xfrm>
          <a:prstGeom prst="rect">
            <a:avLst/>
          </a:prstGeom>
          <a:solidFill>
            <a:srgbClr val="141F30"/>
          </a:solidFill>
          <a:ln w="6350">
            <a:solidFill>
              <a:srgbClr val="0F1826"/>
            </a:solidFill>
            <a:prstDash val="solid"/>
          </a:ln>
        </p:spPr>
      </p:sp>
      <p:sp>
        <p:nvSpPr>
          <p:cNvPr id="43" name="Text 41"/>
          <p:cNvSpPr/>
          <p:nvPr/>
        </p:nvSpPr>
        <p:spPr>
          <a:xfrm>
            <a:off x="7790688" y="3986784"/>
            <a:ext cx="3931920" cy="566928"/>
          </a:xfrm>
          <a:prstGeom prst="rect">
            <a:avLst/>
          </a:prstGeom>
          <a:noFill/>
          <a:ln/>
        </p:spPr>
        <p:txBody>
          <a:bodyPr wrap="square" rtlCol="0" anchor="ctr"/>
          <a:lstStyle/>
          <a:p>
            <a:pPr indent="0" marL="0">
              <a:buNone/>
            </a:pPr>
            <a:r>
              <a:rPr lang="en-US" sz="1150" dirty="0">
                <a:solidFill>
                  <a:srgbClr val="FFFFFF"/>
                </a:solidFill>
              </a:rPr>
              <a:t>Log to audit trail + Slack/Gmail notify</a:t>
            </a:r>
            <a:endParaRPr lang="en-US" sz="1150" dirty="0"/>
          </a:p>
        </p:txBody>
      </p:sp>
      <p:sp>
        <p:nvSpPr>
          <p:cNvPr id="44" name="Shape 42"/>
          <p:cNvSpPr/>
          <p:nvPr/>
        </p:nvSpPr>
        <p:spPr>
          <a:xfrm>
            <a:off x="548640" y="4553712"/>
            <a:ext cx="3749040" cy="566928"/>
          </a:xfrm>
          <a:prstGeom prst="rect">
            <a:avLst/>
          </a:prstGeom>
          <a:solidFill>
            <a:srgbClr val="0B1220"/>
          </a:solidFill>
          <a:ln w="6350">
            <a:solidFill>
              <a:srgbClr val="0F1826"/>
            </a:solidFill>
            <a:prstDash val="solid"/>
          </a:ln>
        </p:spPr>
      </p:sp>
      <p:sp>
        <p:nvSpPr>
          <p:cNvPr id="45" name="Text 43"/>
          <p:cNvSpPr/>
          <p:nvPr/>
        </p:nvSpPr>
        <p:spPr>
          <a:xfrm>
            <a:off x="658368" y="4553712"/>
            <a:ext cx="3566160" cy="566928"/>
          </a:xfrm>
          <a:prstGeom prst="rect">
            <a:avLst/>
          </a:prstGeom>
          <a:noFill/>
          <a:ln/>
        </p:spPr>
        <p:txBody>
          <a:bodyPr wrap="square" rtlCol="0" anchor="ctr"/>
          <a:lstStyle/>
          <a:p>
            <a:pPr indent="0" marL="0">
              <a:buNone/>
            </a:pPr>
            <a:r>
              <a:rPr lang="en-US" sz="1150" b="1" dirty="0">
                <a:solidFill>
                  <a:srgbClr val="FFFFFF"/>
                </a:solidFill>
              </a:rPr>
              <a:t>WF5 - Dashboard &amp; Reports</a:t>
            </a:r>
            <a:endParaRPr lang="en-US" sz="1150" dirty="0"/>
          </a:p>
        </p:txBody>
      </p:sp>
      <p:sp>
        <p:nvSpPr>
          <p:cNvPr id="46" name="Shape 44"/>
          <p:cNvSpPr/>
          <p:nvPr/>
        </p:nvSpPr>
        <p:spPr>
          <a:xfrm>
            <a:off x="4297680" y="4553712"/>
            <a:ext cx="2377440" cy="566928"/>
          </a:xfrm>
          <a:prstGeom prst="rect">
            <a:avLst/>
          </a:prstGeom>
          <a:solidFill>
            <a:srgbClr val="0B1220"/>
          </a:solidFill>
          <a:ln w="6350">
            <a:solidFill>
              <a:srgbClr val="0F1826"/>
            </a:solidFill>
            <a:prstDash val="solid"/>
          </a:ln>
        </p:spPr>
      </p:sp>
      <p:sp>
        <p:nvSpPr>
          <p:cNvPr id="47" name="Text 45"/>
          <p:cNvSpPr/>
          <p:nvPr/>
        </p:nvSpPr>
        <p:spPr>
          <a:xfrm>
            <a:off x="4407408" y="4553712"/>
            <a:ext cx="2194560" cy="566928"/>
          </a:xfrm>
          <a:prstGeom prst="rect">
            <a:avLst/>
          </a:prstGeom>
          <a:noFill/>
          <a:ln/>
        </p:spPr>
        <p:txBody>
          <a:bodyPr wrap="square" rtlCol="0" anchor="ctr"/>
          <a:lstStyle/>
          <a:p>
            <a:pPr indent="0" marL="0">
              <a:buNone/>
            </a:pPr>
            <a:r>
              <a:rPr lang="en-US" sz="1150" dirty="0">
                <a:solidFill>
                  <a:srgbClr val="FFFFFF"/>
                </a:solidFill>
              </a:rPr>
              <a:t>Cron (daily)</a:t>
            </a:r>
            <a:endParaRPr lang="en-US" sz="1150" dirty="0"/>
          </a:p>
        </p:txBody>
      </p:sp>
      <p:sp>
        <p:nvSpPr>
          <p:cNvPr id="48" name="Shape 46"/>
          <p:cNvSpPr/>
          <p:nvPr/>
        </p:nvSpPr>
        <p:spPr>
          <a:xfrm>
            <a:off x="6675120" y="4553712"/>
            <a:ext cx="1005840" cy="566928"/>
          </a:xfrm>
          <a:prstGeom prst="rect">
            <a:avLst/>
          </a:prstGeom>
          <a:solidFill>
            <a:srgbClr val="0B1220"/>
          </a:solidFill>
          <a:ln w="6350">
            <a:solidFill>
              <a:srgbClr val="0F1826"/>
            </a:solidFill>
            <a:prstDash val="solid"/>
          </a:ln>
        </p:spPr>
      </p:sp>
      <p:sp>
        <p:nvSpPr>
          <p:cNvPr id="49" name="Text 47"/>
          <p:cNvSpPr/>
          <p:nvPr/>
        </p:nvSpPr>
        <p:spPr>
          <a:xfrm>
            <a:off x="6784848" y="4553712"/>
            <a:ext cx="822960" cy="566928"/>
          </a:xfrm>
          <a:prstGeom prst="rect">
            <a:avLst/>
          </a:prstGeom>
          <a:noFill/>
          <a:ln/>
        </p:spPr>
        <p:txBody>
          <a:bodyPr wrap="square" rtlCol="0" anchor="ctr"/>
          <a:lstStyle/>
          <a:p>
            <a:pPr indent="0" marL="0">
              <a:buNone/>
            </a:pPr>
            <a:r>
              <a:rPr lang="en-US" sz="1150" dirty="0">
                <a:solidFill>
                  <a:srgbClr val="3DDC97"/>
                </a:solidFill>
              </a:rPr>
              <a:t>5</a:t>
            </a:r>
            <a:endParaRPr lang="en-US" sz="1150" dirty="0"/>
          </a:p>
        </p:txBody>
      </p:sp>
      <p:sp>
        <p:nvSpPr>
          <p:cNvPr id="50" name="Shape 48"/>
          <p:cNvSpPr/>
          <p:nvPr/>
        </p:nvSpPr>
        <p:spPr>
          <a:xfrm>
            <a:off x="7680960" y="4553712"/>
            <a:ext cx="4114800" cy="566928"/>
          </a:xfrm>
          <a:prstGeom prst="rect">
            <a:avLst/>
          </a:prstGeom>
          <a:solidFill>
            <a:srgbClr val="0B1220"/>
          </a:solidFill>
          <a:ln w="6350">
            <a:solidFill>
              <a:srgbClr val="0F1826"/>
            </a:solidFill>
            <a:prstDash val="solid"/>
          </a:ln>
        </p:spPr>
      </p:sp>
      <p:sp>
        <p:nvSpPr>
          <p:cNvPr id="51" name="Text 49"/>
          <p:cNvSpPr/>
          <p:nvPr/>
        </p:nvSpPr>
        <p:spPr>
          <a:xfrm>
            <a:off x="7790688" y="4553712"/>
            <a:ext cx="3931920" cy="566928"/>
          </a:xfrm>
          <a:prstGeom prst="rect">
            <a:avLst/>
          </a:prstGeom>
          <a:noFill/>
          <a:ln/>
        </p:spPr>
        <p:txBody>
          <a:bodyPr wrap="square" rtlCol="0" anchor="ctr"/>
          <a:lstStyle/>
          <a:p>
            <a:pPr indent="0" marL="0">
              <a:buNone/>
            </a:pPr>
            <a:r>
              <a:rPr lang="en-US" sz="1150" dirty="0">
                <a:solidFill>
                  <a:srgbClr val="FFFFFF"/>
                </a:solidFill>
              </a:rPr>
              <a:t>Read log, compute analytics, email report</a:t>
            </a:r>
            <a:endParaRPr lang="en-US" sz="1150" dirty="0"/>
          </a:p>
        </p:txBody>
      </p:sp>
      <p:sp>
        <p:nvSpPr>
          <p:cNvPr id="52" name="Shape 50"/>
          <p:cNvSpPr/>
          <p:nvPr/>
        </p:nvSpPr>
        <p:spPr>
          <a:xfrm>
            <a:off x="548640" y="5120640"/>
            <a:ext cx="3749040" cy="566928"/>
          </a:xfrm>
          <a:prstGeom prst="rect">
            <a:avLst/>
          </a:prstGeom>
          <a:solidFill>
            <a:srgbClr val="141F30"/>
          </a:solidFill>
          <a:ln w="6350">
            <a:solidFill>
              <a:srgbClr val="0F1826"/>
            </a:solidFill>
            <a:prstDash val="solid"/>
          </a:ln>
        </p:spPr>
      </p:sp>
      <p:sp>
        <p:nvSpPr>
          <p:cNvPr id="53" name="Text 51"/>
          <p:cNvSpPr/>
          <p:nvPr/>
        </p:nvSpPr>
        <p:spPr>
          <a:xfrm>
            <a:off x="658368" y="5120640"/>
            <a:ext cx="3566160" cy="566928"/>
          </a:xfrm>
          <a:prstGeom prst="rect">
            <a:avLst/>
          </a:prstGeom>
          <a:noFill/>
          <a:ln/>
        </p:spPr>
        <p:txBody>
          <a:bodyPr wrap="square" rtlCol="0" anchor="ctr"/>
          <a:lstStyle/>
          <a:p>
            <a:pPr indent="0" marL="0">
              <a:buNone/>
            </a:pPr>
            <a:r>
              <a:rPr lang="en-US" sz="1150" b="1" dirty="0">
                <a:solidFill>
                  <a:srgbClr val="FFFFFF"/>
                </a:solidFill>
              </a:rPr>
              <a:t>WF6 - Error Handling</a:t>
            </a:r>
            <a:endParaRPr lang="en-US" sz="1150" dirty="0"/>
          </a:p>
        </p:txBody>
      </p:sp>
      <p:sp>
        <p:nvSpPr>
          <p:cNvPr id="54" name="Shape 52"/>
          <p:cNvSpPr/>
          <p:nvPr/>
        </p:nvSpPr>
        <p:spPr>
          <a:xfrm>
            <a:off x="4297680" y="5120640"/>
            <a:ext cx="2377440" cy="566928"/>
          </a:xfrm>
          <a:prstGeom prst="rect">
            <a:avLst/>
          </a:prstGeom>
          <a:solidFill>
            <a:srgbClr val="141F30"/>
          </a:solidFill>
          <a:ln w="6350">
            <a:solidFill>
              <a:srgbClr val="0F1826"/>
            </a:solidFill>
            <a:prstDash val="solid"/>
          </a:ln>
        </p:spPr>
      </p:sp>
      <p:sp>
        <p:nvSpPr>
          <p:cNvPr id="55" name="Text 53"/>
          <p:cNvSpPr/>
          <p:nvPr/>
        </p:nvSpPr>
        <p:spPr>
          <a:xfrm>
            <a:off x="4407408" y="5120640"/>
            <a:ext cx="2194560" cy="566928"/>
          </a:xfrm>
          <a:prstGeom prst="rect">
            <a:avLst/>
          </a:prstGeom>
          <a:noFill/>
          <a:ln/>
        </p:spPr>
        <p:txBody>
          <a:bodyPr wrap="square" rtlCol="0" anchor="ctr"/>
          <a:lstStyle/>
          <a:p>
            <a:pPr indent="0" marL="0">
              <a:buNone/>
            </a:pPr>
            <a:r>
              <a:rPr lang="en-US" sz="1150" dirty="0">
                <a:solidFill>
                  <a:srgbClr val="FFFFFF"/>
                </a:solidFill>
              </a:rPr>
              <a:t>Error Trigger</a:t>
            </a:r>
            <a:endParaRPr lang="en-US" sz="1150" dirty="0"/>
          </a:p>
        </p:txBody>
      </p:sp>
      <p:sp>
        <p:nvSpPr>
          <p:cNvPr id="56" name="Shape 54"/>
          <p:cNvSpPr/>
          <p:nvPr/>
        </p:nvSpPr>
        <p:spPr>
          <a:xfrm>
            <a:off x="6675120" y="5120640"/>
            <a:ext cx="1005840" cy="566928"/>
          </a:xfrm>
          <a:prstGeom prst="rect">
            <a:avLst/>
          </a:prstGeom>
          <a:solidFill>
            <a:srgbClr val="141F30"/>
          </a:solidFill>
          <a:ln w="6350">
            <a:solidFill>
              <a:srgbClr val="0F1826"/>
            </a:solidFill>
            <a:prstDash val="solid"/>
          </a:ln>
        </p:spPr>
      </p:sp>
      <p:sp>
        <p:nvSpPr>
          <p:cNvPr id="57" name="Text 55"/>
          <p:cNvSpPr/>
          <p:nvPr/>
        </p:nvSpPr>
        <p:spPr>
          <a:xfrm>
            <a:off x="6784848" y="5120640"/>
            <a:ext cx="822960" cy="566928"/>
          </a:xfrm>
          <a:prstGeom prst="rect">
            <a:avLst/>
          </a:prstGeom>
          <a:noFill/>
          <a:ln/>
        </p:spPr>
        <p:txBody>
          <a:bodyPr wrap="square" rtlCol="0" anchor="ctr"/>
          <a:lstStyle/>
          <a:p>
            <a:pPr indent="0" marL="0">
              <a:buNone/>
            </a:pPr>
            <a:r>
              <a:rPr lang="en-US" sz="1150" dirty="0">
                <a:solidFill>
                  <a:srgbClr val="3DDC97"/>
                </a:solidFill>
              </a:rPr>
              <a:t>4</a:t>
            </a:r>
            <a:endParaRPr lang="en-US" sz="1150" dirty="0"/>
          </a:p>
        </p:txBody>
      </p:sp>
      <p:sp>
        <p:nvSpPr>
          <p:cNvPr id="58" name="Shape 56"/>
          <p:cNvSpPr/>
          <p:nvPr/>
        </p:nvSpPr>
        <p:spPr>
          <a:xfrm>
            <a:off x="7680960" y="5120640"/>
            <a:ext cx="4114800" cy="566928"/>
          </a:xfrm>
          <a:prstGeom prst="rect">
            <a:avLst/>
          </a:prstGeom>
          <a:solidFill>
            <a:srgbClr val="141F30"/>
          </a:solidFill>
          <a:ln w="6350">
            <a:solidFill>
              <a:srgbClr val="0F1826"/>
            </a:solidFill>
            <a:prstDash val="solid"/>
          </a:ln>
        </p:spPr>
      </p:sp>
      <p:sp>
        <p:nvSpPr>
          <p:cNvPr id="59" name="Text 57"/>
          <p:cNvSpPr/>
          <p:nvPr/>
        </p:nvSpPr>
        <p:spPr>
          <a:xfrm>
            <a:off x="7790688" y="5120640"/>
            <a:ext cx="3931920" cy="566928"/>
          </a:xfrm>
          <a:prstGeom prst="rect">
            <a:avLst/>
          </a:prstGeom>
          <a:noFill/>
          <a:ln/>
        </p:spPr>
        <p:txBody>
          <a:bodyPr wrap="square" rtlCol="0" anchor="ctr"/>
          <a:lstStyle/>
          <a:p>
            <a:pPr indent="0" marL="0">
              <a:buNone/>
            </a:pPr>
            <a:r>
              <a:rPr lang="en-US" sz="1150" dirty="0">
                <a:solidFill>
                  <a:srgbClr val="FFFFFF"/>
                </a:solidFill>
              </a:rPr>
              <a:t>Catch failures, log, alert DevOps</a:t>
            </a:r>
            <a:endParaRPr lang="en-US" sz="1150" dirty="0"/>
          </a:p>
        </p:txBody>
      </p:sp>
      <p:sp>
        <p:nvSpPr>
          <p:cNvPr id="60" name="Text 58"/>
          <p:cNvSpPr/>
          <p:nvPr/>
        </p:nvSpPr>
        <p:spPr>
          <a:xfrm>
            <a:off x="11338560" y="6492240"/>
            <a:ext cx="731520" cy="274320"/>
          </a:xfrm>
          <a:prstGeom prst="rect">
            <a:avLst/>
          </a:prstGeom>
          <a:noFill/>
          <a:ln/>
        </p:spPr>
        <p:txBody>
          <a:bodyPr wrap="square" rtlCol="0" anchor="ctr"/>
          <a:lstStyle/>
          <a:p>
            <a:pPr algn="r" indent="0" marL="0">
              <a:buNone/>
            </a:pPr>
            <a:r>
              <a:rPr lang="en-US" sz="1000" dirty="0">
                <a:solidFill>
                  <a:srgbClr val="9FB3C8"/>
                </a:solidFill>
              </a:rPr>
              <a:t>07 / 12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300" b="1" spc="200" kern="0" dirty="0">
                <a:solidFill>
                  <a:srgbClr val="3DDC97"/>
                </a:solidFill>
                <a:latin typeface="Arial" pitchFamily="34" charset="0"/>
                <a:ea typeface="Arial" pitchFamily="34" charset="-122"/>
                <a:cs typeface="Arial" pitchFamily="34" charset="-120"/>
              </a:rPr>
              <a:t>IMPLEMENTATION — WF2</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AI-powered decision making</a:t>
            </a:r>
            <a:endParaRPr lang="en-US" sz="3200" dirty="0"/>
          </a:p>
        </p:txBody>
      </p:sp>
      <p:sp>
        <p:nvSpPr>
          <p:cNvPr id="4" name="Shape 2"/>
          <p:cNvSpPr/>
          <p:nvPr/>
        </p:nvSpPr>
        <p:spPr>
          <a:xfrm>
            <a:off x="548640" y="1783080"/>
            <a:ext cx="5394960" cy="3931920"/>
          </a:xfrm>
          <a:prstGeom prst="roundRect">
            <a:avLst>
              <a:gd name="adj" fmla="val 1860"/>
            </a:avLst>
          </a:prstGeom>
          <a:solidFill>
            <a:srgbClr val="141F30"/>
          </a:solidFill>
          <a:ln/>
        </p:spPr>
      </p:sp>
      <p:sp>
        <p:nvSpPr>
          <p:cNvPr id="5" name="Text 3"/>
          <p:cNvSpPr/>
          <p:nvPr/>
        </p:nvSpPr>
        <p:spPr>
          <a:xfrm>
            <a:off x="822960" y="1965960"/>
            <a:ext cx="4846320" cy="365760"/>
          </a:xfrm>
          <a:prstGeom prst="rect">
            <a:avLst/>
          </a:prstGeom>
          <a:noFill/>
          <a:ln/>
        </p:spPr>
        <p:txBody>
          <a:bodyPr wrap="square" rtlCol="0" anchor="ctr"/>
          <a:lstStyle/>
          <a:p>
            <a:pPr indent="0" marL="0">
              <a:buNone/>
            </a:pPr>
            <a:r>
              <a:rPr lang="en-US" sz="1300" b="1" dirty="0">
                <a:solidFill>
                  <a:srgbClr val="9FB3C8"/>
                </a:solidFill>
              </a:rPr>
              <a:t>Input: raw alert</a:t>
            </a:r>
            <a:endParaRPr lang="en-US" sz="1300" dirty="0"/>
          </a:p>
        </p:txBody>
      </p:sp>
      <p:sp>
        <p:nvSpPr>
          <p:cNvPr id="6" name="Text 4"/>
          <p:cNvSpPr/>
          <p:nvPr/>
        </p:nvSpPr>
        <p:spPr>
          <a:xfrm>
            <a:off x="822960" y="2377440"/>
            <a:ext cx="4846320" cy="1554480"/>
          </a:xfrm>
          <a:prstGeom prst="rect">
            <a:avLst/>
          </a:prstGeom>
          <a:noFill/>
          <a:ln/>
        </p:spPr>
        <p:txBody>
          <a:bodyPr wrap="square" rtlCol="0" anchor="t"/>
          <a:lstStyle/>
          <a:p>
            <a:pPr indent="0" marL="0">
              <a:lnSpc>
                <a:spcPct val="120000"/>
              </a:lnSpc>
              <a:buNone/>
            </a:pPr>
            <a:r>
              <a:rPr lang="en-US" sz="1250" dirty="0">
                <a:solidFill>
                  <a:srgbClr val="FFFFFF"/>
                </a:solidFill>
                <a:latin typeface="Courier New" pitchFamily="34" charset="0"/>
                <a:ea typeface="Courier New" pitchFamily="34" charset="-122"/>
                <a:cs typeface="Courier New" pitchFamily="34" charset="-120"/>
              </a:rPr>
              <a:t>source: "IDS"</a:t>
            </a:r>
            <a:endParaRPr lang="en-US" sz="1250" dirty="0"/>
          </a:p>
          <a:p>
            <a:pPr indent="0" marL="0">
              <a:lnSpc>
                <a:spcPct val="120000"/>
              </a:lnSpc>
              <a:buNone/>
            </a:pPr>
            <a:r>
              <a:rPr lang="en-US" sz="1250" dirty="0">
                <a:solidFill>
                  <a:srgbClr val="FFFFFF"/>
                </a:solidFill>
                <a:latin typeface="Courier New" pitchFamily="34" charset="0"/>
                <a:ea typeface="Courier New" pitchFamily="34" charset="-122"/>
                <a:cs typeface="Courier New" pitchFamily="34" charset="-120"/>
              </a:rPr>
              <a:t>alertType: "Active exfiltration"</a:t>
            </a:r>
            <a:endParaRPr lang="en-US" sz="1250" dirty="0"/>
          </a:p>
          <a:p>
            <a:pPr indent="0" marL="0">
              <a:lnSpc>
                <a:spcPct val="120000"/>
              </a:lnSpc>
              <a:buNone/>
            </a:pPr>
            <a:r>
              <a:rPr lang="en-US" sz="1250" dirty="0">
                <a:solidFill>
                  <a:srgbClr val="FFFFFF"/>
                </a:solidFill>
                <a:latin typeface="Courier New" pitchFamily="34" charset="0"/>
                <a:ea typeface="Courier New" pitchFamily="34" charset="-122"/>
                <a:cs typeface="Courier New" pitchFamily="34" charset="-120"/>
              </a:rPr>
              <a:t>description: "Large outbound</a:t>
            </a:r>
            <a:endParaRPr lang="en-US" sz="1250" dirty="0"/>
          </a:p>
          <a:p>
            <a:pPr indent="0" marL="0">
              <a:lnSpc>
                <a:spcPct val="120000"/>
              </a:lnSpc>
              <a:buNone/>
            </a:pPr>
            <a:r>
              <a:rPr lang="en-US" sz="1250" dirty="0">
                <a:solidFill>
                  <a:srgbClr val="FFFFFF"/>
                </a:solidFill>
                <a:latin typeface="Courier New" pitchFamily="34" charset="0"/>
                <a:ea typeface="Courier New" pitchFamily="34" charset="-122"/>
                <a:cs typeface="Courier New" pitchFamily="34" charset="-120"/>
              </a:rPr>
              <a:t>transfer of DB records to</a:t>
            </a:r>
            <a:endParaRPr lang="en-US" sz="1250" dirty="0"/>
          </a:p>
          <a:p>
            <a:pPr indent="0" marL="0">
              <a:lnSpc>
                <a:spcPct val="120000"/>
              </a:lnSpc>
              <a:buNone/>
            </a:pPr>
            <a:r>
              <a:rPr lang="en-US" sz="1250" dirty="0">
                <a:solidFill>
                  <a:srgbClr val="FFFFFF"/>
                </a:solidFill>
                <a:latin typeface="Courier New" pitchFamily="34" charset="0"/>
                <a:ea typeface="Courier New" pitchFamily="34" charset="-122"/>
                <a:cs typeface="Courier New" pitchFamily="34" charset="-120"/>
              </a:rPr>
              <a:t>unknown external IP"</a:t>
            </a:r>
            <a:endParaRPr lang="en-US" sz="1250" dirty="0"/>
          </a:p>
          <a:p>
            <a:pPr indent="0" marL="0">
              <a:lnSpc>
                <a:spcPct val="120000"/>
              </a:lnSpc>
              <a:buNone/>
            </a:pPr>
            <a:r>
              <a:rPr lang="en-US" sz="1250" dirty="0">
                <a:solidFill>
                  <a:srgbClr val="FFFFFF"/>
                </a:solidFill>
                <a:latin typeface="Courier New" pitchFamily="34" charset="0"/>
                <a:ea typeface="Courier New" pitchFamily="34" charset="-122"/>
                <a:cs typeface="Courier New" pitchFamily="34" charset="-120"/>
              </a:rPr>
              <a:t>sourceIP: "198.51.100.23"</a:t>
            </a:r>
            <a:endParaRPr lang="en-US" sz="1250" dirty="0"/>
          </a:p>
        </p:txBody>
      </p:sp>
      <p:sp>
        <p:nvSpPr>
          <p:cNvPr id="7" name="Shape 5"/>
          <p:cNvSpPr/>
          <p:nvPr/>
        </p:nvSpPr>
        <p:spPr>
          <a:xfrm>
            <a:off x="822960" y="3977640"/>
            <a:ext cx="4846320" cy="0"/>
          </a:xfrm>
          <a:prstGeom prst="line">
            <a:avLst/>
          </a:prstGeom>
          <a:noFill/>
          <a:ln w="12700">
            <a:solidFill>
              <a:srgbClr val="2A3A55"/>
            </a:solidFill>
            <a:prstDash val="solid"/>
          </a:ln>
        </p:spPr>
      </p:sp>
      <p:sp>
        <p:nvSpPr>
          <p:cNvPr id="8" name="Text 6"/>
          <p:cNvSpPr/>
          <p:nvPr/>
        </p:nvSpPr>
        <p:spPr>
          <a:xfrm>
            <a:off x="822960" y="4114800"/>
            <a:ext cx="4846320" cy="1463040"/>
          </a:xfrm>
          <a:prstGeom prst="rect">
            <a:avLst/>
          </a:prstGeom>
          <a:noFill/>
          <a:ln/>
        </p:spPr>
        <p:txBody>
          <a:bodyPr wrap="square" rtlCol="0" anchor="t"/>
          <a:lstStyle/>
          <a:p>
            <a:pPr indent="0" marL="0">
              <a:lnSpc>
                <a:spcPct val="130000"/>
              </a:lnSpc>
              <a:buNone/>
            </a:pPr>
            <a:r>
              <a:rPr lang="en-US" sz="1250" dirty="0">
                <a:solidFill>
                  <a:srgbClr val="9FB3C8"/>
                </a:solidFill>
              </a:rPr>
              <a:t>Groq (Llama 3.3 70B) reasons over the alert like a Tier-1 analyst and returns structured JSON — severity, category, team, confidence, and next action.</a:t>
            </a:r>
            <a:endParaRPr lang="en-US" sz="1250" dirty="0"/>
          </a:p>
        </p:txBody>
      </p:sp>
      <p:sp>
        <p:nvSpPr>
          <p:cNvPr id="9" name="Shape 7"/>
          <p:cNvSpPr/>
          <p:nvPr/>
        </p:nvSpPr>
        <p:spPr>
          <a:xfrm>
            <a:off x="6217920" y="1783080"/>
            <a:ext cx="5394960" cy="3931920"/>
          </a:xfrm>
          <a:prstGeom prst="roundRect">
            <a:avLst>
              <a:gd name="adj" fmla="val 1860"/>
            </a:avLst>
          </a:prstGeom>
          <a:solidFill>
            <a:srgbClr val="1B2740"/>
          </a:solidFill>
          <a:ln w="15240">
            <a:solidFill>
              <a:srgbClr val="3DDC97"/>
            </a:solidFill>
            <a:prstDash val="solid"/>
          </a:ln>
        </p:spPr>
      </p:sp>
      <p:sp>
        <p:nvSpPr>
          <p:cNvPr id="10" name="Text 8"/>
          <p:cNvSpPr/>
          <p:nvPr/>
        </p:nvSpPr>
        <p:spPr>
          <a:xfrm>
            <a:off x="6492240" y="1965960"/>
            <a:ext cx="4846320" cy="365760"/>
          </a:xfrm>
          <a:prstGeom prst="rect">
            <a:avLst/>
          </a:prstGeom>
          <a:noFill/>
          <a:ln/>
        </p:spPr>
        <p:txBody>
          <a:bodyPr wrap="square" rtlCol="0" anchor="ctr"/>
          <a:lstStyle/>
          <a:p>
            <a:pPr indent="0" marL="0">
              <a:buNone/>
            </a:pPr>
            <a:r>
              <a:rPr lang="en-US" sz="1300" b="1" dirty="0">
                <a:solidFill>
                  <a:srgbClr val="3DDC97"/>
                </a:solidFill>
              </a:rPr>
              <a:t>Output: structured classification</a:t>
            </a:r>
            <a:endParaRPr lang="en-US" sz="1300" dirty="0"/>
          </a:p>
        </p:txBody>
      </p:sp>
      <p:sp>
        <p:nvSpPr>
          <p:cNvPr id="11" name="Text 9"/>
          <p:cNvSpPr/>
          <p:nvPr/>
        </p:nvSpPr>
        <p:spPr>
          <a:xfrm>
            <a:off x="6492240" y="2423160"/>
            <a:ext cx="2011680" cy="384048"/>
          </a:xfrm>
          <a:prstGeom prst="rect">
            <a:avLst/>
          </a:prstGeom>
          <a:noFill/>
          <a:ln/>
        </p:spPr>
        <p:txBody>
          <a:bodyPr wrap="square" rtlCol="0" anchor="ctr"/>
          <a:lstStyle/>
          <a:p>
            <a:pPr indent="0" marL="0">
              <a:buNone/>
            </a:pPr>
            <a:r>
              <a:rPr lang="en-US" sz="1250" dirty="0">
                <a:solidFill>
                  <a:srgbClr val="9FB3C8"/>
                </a:solidFill>
                <a:latin typeface="Courier New" pitchFamily="34" charset="0"/>
                <a:ea typeface="Courier New" pitchFamily="34" charset="-122"/>
                <a:cs typeface="Courier New" pitchFamily="34" charset="-120"/>
              </a:rPr>
              <a:t>severity</a:t>
            </a:r>
            <a:endParaRPr lang="en-US" sz="1250" dirty="0"/>
          </a:p>
        </p:txBody>
      </p:sp>
      <p:sp>
        <p:nvSpPr>
          <p:cNvPr id="12" name="Text 10"/>
          <p:cNvSpPr/>
          <p:nvPr/>
        </p:nvSpPr>
        <p:spPr>
          <a:xfrm>
            <a:off x="8503920" y="2423160"/>
            <a:ext cx="2926080" cy="384048"/>
          </a:xfrm>
          <a:prstGeom prst="rect">
            <a:avLst/>
          </a:prstGeom>
          <a:noFill/>
          <a:ln/>
        </p:spPr>
        <p:txBody>
          <a:bodyPr wrap="square" rtlCol="0" anchor="ctr"/>
          <a:lstStyle/>
          <a:p>
            <a:pPr indent="0" marL="0">
              <a:buNone/>
            </a:pPr>
            <a:r>
              <a:rPr lang="en-US" sz="1250" b="1" dirty="0">
                <a:solidFill>
                  <a:srgbClr val="FFFFFF"/>
                </a:solidFill>
              </a:rPr>
              <a:t>Critical</a:t>
            </a:r>
            <a:endParaRPr lang="en-US" sz="1250" dirty="0"/>
          </a:p>
        </p:txBody>
      </p:sp>
      <p:sp>
        <p:nvSpPr>
          <p:cNvPr id="13" name="Text 11"/>
          <p:cNvSpPr/>
          <p:nvPr/>
        </p:nvSpPr>
        <p:spPr>
          <a:xfrm>
            <a:off x="6492240" y="2843784"/>
            <a:ext cx="2011680" cy="384048"/>
          </a:xfrm>
          <a:prstGeom prst="rect">
            <a:avLst/>
          </a:prstGeom>
          <a:noFill/>
          <a:ln/>
        </p:spPr>
        <p:txBody>
          <a:bodyPr wrap="square" rtlCol="0" anchor="ctr"/>
          <a:lstStyle/>
          <a:p>
            <a:pPr indent="0" marL="0">
              <a:buNone/>
            </a:pPr>
            <a:r>
              <a:rPr lang="en-US" sz="1250" dirty="0">
                <a:solidFill>
                  <a:srgbClr val="9FB3C8"/>
                </a:solidFill>
                <a:latin typeface="Courier New" pitchFamily="34" charset="0"/>
                <a:ea typeface="Courier New" pitchFamily="34" charset="-122"/>
                <a:cs typeface="Courier New" pitchFamily="34" charset="-120"/>
              </a:rPr>
              <a:t>category</a:t>
            </a:r>
            <a:endParaRPr lang="en-US" sz="1250" dirty="0"/>
          </a:p>
        </p:txBody>
      </p:sp>
      <p:sp>
        <p:nvSpPr>
          <p:cNvPr id="14" name="Text 12"/>
          <p:cNvSpPr/>
          <p:nvPr/>
        </p:nvSpPr>
        <p:spPr>
          <a:xfrm>
            <a:off x="8503920" y="2843784"/>
            <a:ext cx="2926080" cy="384048"/>
          </a:xfrm>
          <a:prstGeom prst="rect">
            <a:avLst/>
          </a:prstGeom>
          <a:noFill/>
          <a:ln/>
        </p:spPr>
        <p:txBody>
          <a:bodyPr wrap="square" rtlCol="0" anchor="ctr"/>
          <a:lstStyle/>
          <a:p>
            <a:pPr indent="0" marL="0">
              <a:buNone/>
            </a:pPr>
            <a:r>
              <a:rPr lang="en-US" sz="1250" b="1" dirty="0">
                <a:solidFill>
                  <a:srgbClr val="FFFFFF"/>
                </a:solidFill>
              </a:rPr>
              <a:t>DataExfiltration</a:t>
            </a:r>
            <a:endParaRPr lang="en-US" sz="1250" dirty="0"/>
          </a:p>
        </p:txBody>
      </p:sp>
      <p:sp>
        <p:nvSpPr>
          <p:cNvPr id="15" name="Text 13"/>
          <p:cNvSpPr/>
          <p:nvPr/>
        </p:nvSpPr>
        <p:spPr>
          <a:xfrm>
            <a:off x="6492240" y="3264408"/>
            <a:ext cx="2011680" cy="384048"/>
          </a:xfrm>
          <a:prstGeom prst="rect">
            <a:avLst/>
          </a:prstGeom>
          <a:noFill/>
          <a:ln/>
        </p:spPr>
        <p:txBody>
          <a:bodyPr wrap="square" rtlCol="0" anchor="ctr"/>
          <a:lstStyle/>
          <a:p>
            <a:pPr indent="0" marL="0">
              <a:buNone/>
            </a:pPr>
            <a:r>
              <a:rPr lang="en-US" sz="1250" dirty="0">
                <a:solidFill>
                  <a:srgbClr val="9FB3C8"/>
                </a:solidFill>
                <a:latin typeface="Courier New" pitchFamily="34" charset="0"/>
                <a:ea typeface="Courier New" pitchFamily="34" charset="-122"/>
                <a:cs typeface="Courier New" pitchFamily="34" charset="-120"/>
              </a:rPr>
              <a:t>assignedTeam</a:t>
            </a:r>
            <a:endParaRPr lang="en-US" sz="1250" dirty="0"/>
          </a:p>
        </p:txBody>
      </p:sp>
      <p:sp>
        <p:nvSpPr>
          <p:cNvPr id="16" name="Text 14"/>
          <p:cNvSpPr/>
          <p:nvPr/>
        </p:nvSpPr>
        <p:spPr>
          <a:xfrm>
            <a:off x="8503920" y="3264408"/>
            <a:ext cx="2926080" cy="384048"/>
          </a:xfrm>
          <a:prstGeom prst="rect">
            <a:avLst/>
          </a:prstGeom>
          <a:noFill/>
          <a:ln/>
        </p:spPr>
        <p:txBody>
          <a:bodyPr wrap="square" rtlCol="0" anchor="ctr"/>
          <a:lstStyle/>
          <a:p>
            <a:pPr indent="0" marL="0">
              <a:buNone/>
            </a:pPr>
            <a:r>
              <a:rPr lang="en-US" sz="1250" b="1" dirty="0">
                <a:solidFill>
                  <a:srgbClr val="FFFFFF"/>
                </a:solidFill>
              </a:rPr>
              <a:t>Network Security</a:t>
            </a:r>
            <a:endParaRPr lang="en-US" sz="1250" dirty="0"/>
          </a:p>
        </p:txBody>
      </p:sp>
      <p:sp>
        <p:nvSpPr>
          <p:cNvPr id="17" name="Text 15"/>
          <p:cNvSpPr/>
          <p:nvPr/>
        </p:nvSpPr>
        <p:spPr>
          <a:xfrm>
            <a:off x="6492240" y="3685032"/>
            <a:ext cx="2011680" cy="384048"/>
          </a:xfrm>
          <a:prstGeom prst="rect">
            <a:avLst/>
          </a:prstGeom>
          <a:noFill/>
          <a:ln/>
        </p:spPr>
        <p:txBody>
          <a:bodyPr wrap="square" rtlCol="0" anchor="ctr"/>
          <a:lstStyle/>
          <a:p>
            <a:pPr indent="0" marL="0">
              <a:buNone/>
            </a:pPr>
            <a:r>
              <a:rPr lang="en-US" sz="1250" dirty="0">
                <a:solidFill>
                  <a:srgbClr val="9FB3C8"/>
                </a:solidFill>
                <a:latin typeface="Courier New" pitchFamily="34" charset="0"/>
                <a:ea typeface="Courier New" pitchFamily="34" charset="-122"/>
                <a:cs typeface="Courier New" pitchFamily="34" charset="-120"/>
              </a:rPr>
              <a:t>confidence</a:t>
            </a:r>
            <a:endParaRPr lang="en-US" sz="1250" dirty="0"/>
          </a:p>
        </p:txBody>
      </p:sp>
      <p:sp>
        <p:nvSpPr>
          <p:cNvPr id="18" name="Text 16"/>
          <p:cNvSpPr/>
          <p:nvPr/>
        </p:nvSpPr>
        <p:spPr>
          <a:xfrm>
            <a:off x="8503920" y="3685032"/>
            <a:ext cx="2926080" cy="384048"/>
          </a:xfrm>
          <a:prstGeom prst="rect">
            <a:avLst/>
          </a:prstGeom>
          <a:noFill/>
          <a:ln/>
        </p:spPr>
        <p:txBody>
          <a:bodyPr wrap="square" rtlCol="0" anchor="ctr"/>
          <a:lstStyle/>
          <a:p>
            <a:pPr indent="0" marL="0">
              <a:buNone/>
            </a:pPr>
            <a:r>
              <a:rPr lang="en-US" sz="1250" b="1" dirty="0">
                <a:solidFill>
                  <a:srgbClr val="FFFFFF"/>
                </a:solidFill>
              </a:rPr>
              <a:t>92</a:t>
            </a:r>
            <a:endParaRPr lang="en-US" sz="1250" dirty="0"/>
          </a:p>
        </p:txBody>
      </p:sp>
      <p:sp>
        <p:nvSpPr>
          <p:cNvPr id="19" name="Text 17"/>
          <p:cNvSpPr/>
          <p:nvPr/>
        </p:nvSpPr>
        <p:spPr>
          <a:xfrm>
            <a:off x="6492240" y="4105656"/>
            <a:ext cx="2011680" cy="384048"/>
          </a:xfrm>
          <a:prstGeom prst="rect">
            <a:avLst/>
          </a:prstGeom>
          <a:noFill/>
          <a:ln/>
        </p:spPr>
        <p:txBody>
          <a:bodyPr wrap="square" rtlCol="0" anchor="ctr"/>
          <a:lstStyle/>
          <a:p>
            <a:pPr indent="0" marL="0">
              <a:buNone/>
            </a:pPr>
            <a:r>
              <a:rPr lang="en-US" sz="1250" dirty="0">
                <a:solidFill>
                  <a:srgbClr val="9FB3C8"/>
                </a:solidFill>
                <a:latin typeface="Courier New" pitchFamily="34" charset="0"/>
                <a:ea typeface="Courier New" pitchFamily="34" charset="-122"/>
                <a:cs typeface="Courier New" pitchFamily="34" charset="-120"/>
              </a:rPr>
              <a:t>recommendedAction</a:t>
            </a:r>
            <a:endParaRPr lang="en-US" sz="1250" dirty="0"/>
          </a:p>
        </p:txBody>
      </p:sp>
      <p:sp>
        <p:nvSpPr>
          <p:cNvPr id="20" name="Text 18"/>
          <p:cNvSpPr/>
          <p:nvPr/>
        </p:nvSpPr>
        <p:spPr>
          <a:xfrm>
            <a:off x="8503920" y="4105656"/>
            <a:ext cx="2926080" cy="384048"/>
          </a:xfrm>
          <a:prstGeom prst="rect">
            <a:avLst/>
          </a:prstGeom>
          <a:noFill/>
          <a:ln/>
        </p:spPr>
        <p:txBody>
          <a:bodyPr wrap="square" rtlCol="0" anchor="ctr"/>
          <a:lstStyle/>
          <a:p>
            <a:pPr indent="0" marL="0">
              <a:buNone/>
            </a:pPr>
            <a:r>
              <a:rPr lang="en-US" sz="1250" b="1" dirty="0">
                <a:solidFill>
                  <a:srgbClr val="FFFFFF"/>
                </a:solidFill>
              </a:rPr>
              <a:t>Isolate host, block egress IP</a:t>
            </a:r>
            <a:endParaRPr lang="en-US" sz="1250" dirty="0"/>
          </a:p>
        </p:txBody>
      </p:sp>
      <p:sp>
        <p:nvSpPr>
          <p:cNvPr id="21" name="Shape 19"/>
          <p:cNvSpPr/>
          <p:nvPr/>
        </p:nvSpPr>
        <p:spPr>
          <a:xfrm>
            <a:off x="6492240" y="4572000"/>
            <a:ext cx="4846320" cy="0"/>
          </a:xfrm>
          <a:prstGeom prst="line">
            <a:avLst/>
          </a:prstGeom>
          <a:noFill/>
          <a:ln w="12700">
            <a:solidFill>
              <a:srgbClr val="2A3A55"/>
            </a:solidFill>
            <a:prstDash val="solid"/>
          </a:ln>
        </p:spPr>
      </p:sp>
      <p:sp>
        <p:nvSpPr>
          <p:cNvPr id="22" name="Text 20"/>
          <p:cNvSpPr/>
          <p:nvPr/>
        </p:nvSpPr>
        <p:spPr>
          <a:xfrm>
            <a:off x="6492240" y="4754880"/>
            <a:ext cx="4846320" cy="1097280"/>
          </a:xfrm>
          <a:prstGeom prst="rect">
            <a:avLst/>
          </a:prstGeom>
          <a:noFill/>
          <a:ln/>
        </p:spPr>
        <p:txBody>
          <a:bodyPr wrap="square" rtlCol="0" anchor="t"/>
          <a:lstStyle/>
          <a:p>
            <a:pPr indent="0" marL="0">
              <a:buNone/>
            </a:pPr>
            <a:r>
              <a:rPr lang="en-US" sz="1200" i="1" dirty="0">
                <a:solidFill>
                  <a:srgbClr val="E8A93D"/>
                </a:solidFill>
              </a:rPr>
              <a:t>If Groq is unreachable, WF2 falls back to keyword-based rule classification — the pipeline never breaks.</a:t>
            </a:r>
            <a:endParaRPr lang="en-US" sz="1200" dirty="0"/>
          </a:p>
        </p:txBody>
      </p:sp>
      <p:sp>
        <p:nvSpPr>
          <p:cNvPr id="23" name="Text 21"/>
          <p:cNvSpPr/>
          <p:nvPr/>
        </p:nvSpPr>
        <p:spPr>
          <a:xfrm>
            <a:off x="11338560" y="6492240"/>
            <a:ext cx="731520" cy="274320"/>
          </a:xfrm>
          <a:prstGeom prst="rect">
            <a:avLst/>
          </a:prstGeom>
          <a:noFill/>
          <a:ln/>
        </p:spPr>
        <p:txBody>
          <a:bodyPr wrap="square" rtlCol="0" anchor="ctr"/>
          <a:lstStyle/>
          <a:p>
            <a:pPr algn="r" indent="0" marL="0">
              <a:buNone/>
            </a:pPr>
            <a:r>
              <a:rPr lang="en-US" sz="1000" dirty="0">
                <a:solidFill>
                  <a:srgbClr val="9FB3C8"/>
                </a:solidFill>
              </a:rPr>
              <a:t>08 / 12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300" b="1" spc="200" kern="0" dirty="0">
                <a:solidFill>
                  <a:srgbClr val="3DDC97"/>
                </a:solidFill>
                <a:latin typeface="Arial" pitchFamily="34" charset="0"/>
                <a:ea typeface="Arial" pitchFamily="34" charset="-122"/>
                <a:cs typeface="Arial" pitchFamily="34" charset="-120"/>
              </a:rPr>
              <a:t>ADVANCED FEATURES</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Beyond basic automation</a:t>
            </a:r>
            <a:endParaRPr lang="en-US" sz="3200" dirty="0"/>
          </a:p>
        </p:txBody>
      </p:sp>
      <p:sp>
        <p:nvSpPr>
          <p:cNvPr id="4" name="Shape 2"/>
          <p:cNvSpPr/>
          <p:nvPr/>
        </p:nvSpPr>
        <p:spPr>
          <a:xfrm>
            <a:off x="548640" y="1920240"/>
            <a:ext cx="2651760" cy="3566160"/>
          </a:xfrm>
          <a:prstGeom prst="roundRect">
            <a:avLst>
              <a:gd name="adj" fmla="val 2759"/>
            </a:avLst>
          </a:prstGeom>
          <a:solidFill>
            <a:srgbClr val="141F30"/>
          </a:solidFill>
          <a:ln/>
        </p:spPr>
      </p:sp>
      <p:pic>
        <p:nvPicPr>
          <p:cNvPr id="5" name="Image 0" descr="icons/approval_accent.png">    </p:cNvPr>
          <p:cNvPicPr>
            <a:picLocks noChangeAspect="1"/>
          </p:cNvPicPr>
          <p:nvPr/>
        </p:nvPicPr>
        <p:blipFill>
          <a:blip r:embed="rId1"/>
          <a:stretch>
            <a:fillRect/>
          </a:stretch>
        </p:blipFill>
        <p:spPr>
          <a:xfrm>
            <a:off x="1554480" y="2240280"/>
            <a:ext cx="640080" cy="640080"/>
          </a:xfrm>
          <a:prstGeom prst="rect">
            <a:avLst/>
          </a:prstGeom>
        </p:spPr>
      </p:pic>
      <p:sp>
        <p:nvSpPr>
          <p:cNvPr id="6" name="Text 3"/>
          <p:cNvSpPr/>
          <p:nvPr/>
        </p:nvSpPr>
        <p:spPr>
          <a:xfrm>
            <a:off x="731520" y="3108960"/>
            <a:ext cx="2286000" cy="685800"/>
          </a:xfrm>
          <a:prstGeom prst="rect">
            <a:avLst/>
          </a:prstGeom>
          <a:noFill/>
          <a:ln/>
        </p:spPr>
        <p:txBody>
          <a:bodyPr wrap="square" rtlCol="0" anchor="ctr"/>
          <a:lstStyle/>
          <a:p>
            <a:pPr algn="ctr" indent="0" marL="0">
              <a:buNone/>
            </a:pPr>
            <a:r>
              <a:rPr lang="en-US" sz="1450" b="1" dirty="0">
                <a:solidFill>
                  <a:srgbClr val="FFFFFF"/>
                </a:solidFill>
              </a:rPr>
              <a:t>Human Approval Gate</a:t>
            </a:r>
            <a:endParaRPr lang="en-US" sz="1450" dirty="0"/>
          </a:p>
        </p:txBody>
      </p:sp>
      <p:sp>
        <p:nvSpPr>
          <p:cNvPr id="7" name="Text 4"/>
          <p:cNvSpPr/>
          <p:nvPr/>
        </p:nvSpPr>
        <p:spPr>
          <a:xfrm>
            <a:off x="731520" y="3840480"/>
            <a:ext cx="2286000" cy="1554480"/>
          </a:xfrm>
          <a:prstGeom prst="rect">
            <a:avLst/>
          </a:prstGeom>
          <a:noFill/>
          <a:ln/>
        </p:spPr>
        <p:txBody>
          <a:bodyPr wrap="square" rtlCol="0" anchor="t"/>
          <a:lstStyle/>
          <a:p>
            <a:pPr algn="ctr" indent="0" marL="0">
              <a:buNone/>
            </a:pPr>
            <a:r>
              <a:rPr lang="en-US" sz="1150" dirty="0">
                <a:solidFill>
                  <a:srgbClr val="9FB3C8"/>
                </a:solidFill>
              </a:rPr>
              <a:t>Critical incidents pause for SOC-lead Slack approval (30-min auto-resume timeout)</a:t>
            </a:r>
            <a:endParaRPr lang="en-US" sz="1150" dirty="0"/>
          </a:p>
        </p:txBody>
      </p:sp>
      <p:sp>
        <p:nvSpPr>
          <p:cNvPr id="8" name="Shape 5"/>
          <p:cNvSpPr/>
          <p:nvPr/>
        </p:nvSpPr>
        <p:spPr>
          <a:xfrm>
            <a:off x="3346704" y="1920240"/>
            <a:ext cx="2651760" cy="3566160"/>
          </a:xfrm>
          <a:prstGeom prst="roundRect">
            <a:avLst>
              <a:gd name="adj" fmla="val 2759"/>
            </a:avLst>
          </a:prstGeom>
          <a:solidFill>
            <a:srgbClr val="141F30"/>
          </a:solidFill>
          <a:ln/>
        </p:spPr>
      </p:sp>
      <p:pic>
        <p:nvPicPr>
          <p:cNvPr id="9" name="Image 1" descr="icons/retry_accent.png">    </p:cNvPr>
          <p:cNvPicPr>
            <a:picLocks noChangeAspect="1"/>
          </p:cNvPicPr>
          <p:nvPr/>
        </p:nvPicPr>
        <p:blipFill>
          <a:blip r:embed="rId2"/>
          <a:stretch>
            <a:fillRect/>
          </a:stretch>
        </p:blipFill>
        <p:spPr>
          <a:xfrm>
            <a:off x="4352544" y="2240280"/>
            <a:ext cx="640080" cy="640080"/>
          </a:xfrm>
          <a:prstGeom prst="rect">
            <a:avLst/>
          </a:prstGeom>
        </p:spPr>
      </p:pic>
      <p:sp>
        <p:nvSpPr>
          <p:cNvPr id="10" name="Text 6"/>
          <p:cNvSpPr/>
          <p:nvPr/>
        </p:nvSpPr>
        <p:spPr>
          <a:xfrm>
            <a:off x="3529584" y="3108960"/>
            <a:ext cx="2286000" cy="685800"/>
          </a:xfrm>
          <a:prstGeom prst="rect">
            <a:avLst/>
          </a:prstGeom>
          <a:noFill/>
          <a:ln/>
        </p:spPr>
        <p:txBody>
          <a:bodyPr wrap="square" rtlCol="0" anchor="ctr"/>
          <a:lstStyle/>
          <a:p>
            <a:pPr algn="ctr" indent="0" marL="0">
              <a:buNone/>
            </a:pPr>
            <a:r>
              <a:rPr lang="en-US" sz="1450" b="1" dirty="0">
                <a:solidFill>
                  <a:srgbClr val="FFFFFF"/>
                </a:solidFill>
              </a:rPr>
              <a:t>Retry + Fallback Logic</a:t>
            </a:r>
            <a:endParaRPr lang="en-US" sz="1450" dirty="0"/>
          </a:p>
        </p:txBody>
      </p:sp>
      <p:sp>
        <p:nvSpPr>
          <p:cNvPr id="11" name="Text 7"/>
          <p:cNvSpPr/>
          <p:nvPr/>
        </p:nvSpPr>
        <p:spPr>
          <a:xfrm>
            <a:off x="3529584" y="3840480"/>
            <a:ext cx="2286000" cy="1554480"/>
          </a:xfrm>
          <a:prstGeom prst="rect">
            <a:avLst/>
          </a:prstGeom>
          <a:noFill/>
          <a:ln/>
        </p:spPr>
        <p:txBody>
          <a:bodyPr wrap="square" rtlCol="0" anchor="t"/>
          <a:lstStyle/>
          <a:p>
            <a:pPr algn="ctr" indent="0" marL="0">
              <a:buNone/>
            </a:pPr>
            <a:r>
              <a:rPr lang="en-US" sz="1150" dirty="0">
                <a:solidFill>
                  <a:srgbClr val="9FB3C8"/>
                </a:solidFill>
              </a:rPr>
              <a:t>Groq calls retry 3x; rule-based fallback keeps the pipeline alive if AI is down</a:t>
            </a:r>
            <a:endParaRPr lang="en-US" sz="1150" dirty="0"/>
          </a:p>
        </p:txBody>
      </p:sp>
      <p:sp>
        <p:nvSpPr>
          <p:cNvPr id="12" name="Shape 8"/>
          <p:cNvSpPr/>
          <p:nvPr/>
        </p:nvSpPr>
        <p:spPr>
          <a:xfrm>
            <a:off x="6144768" y="1920240"/>
            <a:ext cx="2651760" cy="3566160"/>
          </a:xfrm>
          <a:prstGeom prst="roundRect">
            <a:avLst>
              <a:gd name="adj" fmla="val 2759"/>
            </a:avLst>
          </a:prstGeom>
          <a:solidFill>
            <a:srgbClr val="141F30"/>
          </a:solidFill>
          <a:ln/>
        </p:spPr>
      </p:sp>
      <p:pic>
        <p:nvPicPr>
          <p:cNvPr id="13" name="Image 2" descr="icons/logging_accent.png">    </p:cNvPr>
          <p:cNvPicPr>
            <a:picLocks noChangeAspect="1"/>
          </p:cNvPicPr>
          <p:nvPr/>
        </p:nvPicPr>
        <p:blipFill>
          <a:blip r:embed="rId3"/>
          <a:stretch>
            <a:fillRect/>
          </a:stretch>
        </p:blipFill>
        <p:spPr>
          <a:xfrm>
            <a:off x="7150608" y="2240280"/>
            <a:ext cx="640080" cy="640080"/>
          </a:xfrm>
          <a:prstGeom prst="rect">
            <a:avLst/>
          </a:prstGeom>
        </p:spPr>
      </p:pic>
      <p:sp>
        <p:nvSpPr>
          <p:cNvPr id="14" name="Text 9"/>
          <p:cNvSpPr/>
          <p:nvPr/>
        </p:nvSpPr>
        <p:spPr>
          <a:xfrm>
            <a:off x="6327648" y="3108960"/>
            <a:ext cx="2286000" cy="685800"/>
          </a:xfrm>
          <a:prstGeom prst="rect">
            <a:avLst/>
          </a:prstGeom>
          <a:noFill/>
          <a:ln/>
        </p:spPr>
        <p:txBody>
          <a:bodyPr wrap="square" rtlCol="0" anchor="ctr"/>
          <a:lstStyle/>
          <a:p>
            <a:pPr algn="ctr" indent="0" marL="0">
              <a:buNone/>
            </a:pPr>
            <a:r>
              <a:rPr lang="en-US" sz="1450" b="1" dirty="0">
                <a:solidFill>
                  <a:srgbClr val="FFFFFF"/>
                </a:solidFill>
              </a:rPr>
              <a:t>Centralized Audit Trail</a:t>
            </a:r>
            <a:endParaRPr lang="en-US" sz="1450" dirty="0"/>
          </a:p>
        </p:txBody>
      </p:sp>
      <p:sp>
        <p:nvSpPr>
          <p:cNvPr id="15" name="Text 10"/>
          <p:cNvSpPr/>
          <p:nvPr/>
        </p:nvSpPr>
        <p:spPr>
          <a:xfrm>
            <a:off x="6327648" y="3840480"/>
            <a:ext cx="2286000" cy="1554480"/>
          </a:xfrm>
          <a:prstGeom prst="rect">
            <a:avLst/>
          </a:prstGeom>
          <a:noFill/>
          <a:ln/>
        </p:spPr>
        <p:txBody>
          <a:bodyPr wrap="square" rtlCol="0" anchor="t"/>
          <a:lstStyle/>
          <a:p>
            <a:pPr algn="ctr" indent="0" marL="0">
              <a:buNone/>
            </a:pPr>
            <a:r>
              <a:rPr lang="en-US" sz="1150" dirty="0">
                <a:solidFill>
                  <a:srgbClr val="9FB3C8"/>
                </a:solidFill>
              </a:rPr>
              <a:t>Every incident and every failure permanently logged to Google Sheets</a:t>
            </a:r>
            <a:endParaRPr lang="en-US" sz="1150" dirty="0"/>
          </a:p>
        </p:txBody>
      </p:sp>
      <p:sp>
        <p:nvSpPr>
          <p:cNvPr id="16" name="Shape 11"/>
          <p:cNvSpPr/>
          <p:nvPr/>
        </p:nvSpPr>
        <p:spPr>
          <a:xfrm>
            <a:off x="8942832" y="1920240"/>
            <a:ext cx="2651760" cy="3566160"/>
          </a:xfrm>
          <a:prstGeom prst="roundRect">
            <a:avLst>
              <a:gd name="adj" fmla="val 2759"/>
            </a:avLst>
          </a:prstGeom>
          <a:solidFill>
            <a:srgbClr val="141F30"/>
          </a:solidFill>
          <a:ln/>
        </p:spPr>
      </p:sp>
      <p:pic>
        <p:nvPicPr>
          <p:cNvPr id="17" name="Image 3" descr="icons/cron_accent.png">    </p:cNvPr>
          <p:cNvPicPr>
            <a:picLocks noChangeAspect="1"/>
          </p:cNvPicPr>
          <p:nvPr/>
        </p:nvPicPr>
        <p:blipFill>
          <a:blip r:embed="rId4"/>
          <a:stretch>
            <a:fillRect/>
          </a:stretch>
        </p:blipFill>
        <p:spPr>
          <a:xfrm>
            <a:off x="9948672" y="2240280"/>
            <a:ext cx="640080" cy="640080"/>
          </a:xfrm>
          <a:prstGeom prst="rect">
            <a:avLst/>
          </a:prstGeom>
        </p:spPr>
      </p:pic>
      <p:sp>
        <p:nvSpPr>
          <p:cNvPr id="18" name="Text 12"/>
          <p:cNvSpPr/>
          <p:nvPr/>
        </p:nvSpPr>
        <p:spPr>
          <a:xfrm>
            <a:off x="9125712" y="3108960"/>
            <a:ext cx="2286000" cy="685800"/>
          </a:xfrm>
          <a:prstGeom prst="rect">
            <a:avLst/>
          </a:prstGeom>
          <a:noFill/>
          <a:ln/>
        </p:spPr>
        <p:txBody>
          <a:bodyPr wrap="square" rtlCol="0" anchor="ctr"/>
          <a:lstStyle/>
          <a:p>
            <a:pPr algn="ctr" indent="0" marL="0">
              <a:buNone/>
            </a:pPr>
            <a:r>
              <a:rPr lang="en-US" sz="1450" b="1" dirty="0">
                <a:solidFill>
                  <a:srgbClr val="FFFFFF"/>
                </a:solidFill>
              </a:rPr>
              <a:t>Scheduled Reporting</a:t>
            </a:r>
            <a:endParaRPr lang="en-US" sz="1450" dirty="0"/>
          </a:p>
        </p:txBody>
      </p:sp>
      <p:sp>
        <p:nvSpPr>
          <p:cNvPr id="19" name="Text 13"/>
          <p:cNvSpPr/>
          <p:nvPr/>
        </p:nvSpPr>
        <p:spPr>
          <a:xfrm>
            <a:off x="9125712" y="3840480"/>
            <a:ext cx="2286000" cy="1554480"/>
          </a:xfrm>
          <a:prstGeom prst="rect">
            <a:avLst/>
          </a:prstGeom>
          <a:noFill/>
          <a:ln/>
        </p:spPr>
        <p:txBody>
          <a:bodyPr wrap="square" rtlCol="0" anchor="t"/>
          <a:lstStyle/>
          <a:p>
            <a:pPr algn="ctr" indent="0" marL="0">
              <a:buNone/>
            </a:pPr>
            <a:r>
              <a:rPr lang="en-US" sz="1150" dirty="0">
                <a:solidFill>
                  <a:srgbClr val="9FB3C8"/>
                </a:solidFill>
              </a:rPr>
              <a:t>Daily 8 AM cron workflow compiles and emails analytics automatically</a:t>
            </a:r>
            <a:endParaRPr lang="en-US" sz="1150" dirty="0"/>
          </a:p>
        </p:txBody>
      </p:sp>
      <p:sp>
        <p:nvSpPr>
          <p:cNvPr id="20" name="Text 14"/>
          <p:cNvSpPr/>
          <p:nvPr/>
        </p:nvSpPr>
        <p:spPr>
          <a:xfrm>
            <a:off x="548640" y="5669280"/>
            <a:ext cx="11064240" cy="457200"/>
          </a:xfrm>
          <a:prstGeom prst="rect">
            <a:avLst/>
          </a:prstGeom>
          <a:noFill/>
          <a:ln/>
        </p:spPr>
        <p:txBody>
          <a:bodyPr wrap="square" rtlCol="0" anchor="ctr"/>
          <a:lstStyle/>
          <a:p>
            <a:pPr indent="0" marL="0">
              <a:buNone/>
            </a:pPr>
            <a:r>
              <a:rPr lang="en-US" sz="1200" i="1" dirty="0">
                <a:solidFill>
                  <a:srgbClr val="9FB3C8"/>
                </a:solidFill>
              </a:rPr>
              <a:t>Plus: conditional branching (Switch on severity), webhook-triggered intake, and Execute-Workflow chaining between all 6 workflows.</a:t>
            </a:r>
            <a:endParaRPr lang="en-US" sz="1200" dirty="0"/>
          </a:p>
        </p:txBody>
      </p:sp>
      <p:sp>
        <p:nvSpPr>
          <p:cNvPr id="21" name="Text 15"/>
          <p:cNvSpPr/>
          <p:nvPr/>
        </p:nvSpPr>
        <p:spPr>
          <a:xfrm>
            <a:off x="11338560" y="6492240"/>
            <a:ext cx="731520" cy="274320"/>
          </a:xfrm>
          <a:prstGeom prst="rect">
            <a:avLst/>
          </a:prstGeom>
          <a:noFill/>
          <a:ln/>
        </p:spPr>
        <p:txBody>
          <a:bodyPr wrap="square" rtlCol="0" anchor="ctr"/>
          <a:lstStyle/>
          <a:p>
            <a:pPr algn="r" indent="0" marL="0">
              <a:buNone/>
            </a:pPr>
            <a:r>
              <a:rPr lang="en-US" sz="1000" dirty="0">
                <a:solidFill>
                  <a:srgbClr val="9FB3C8"/>
                </a:solidFill>
              </a:rPr>
              <a:t>09 / 12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300" b="1" spc="200" kern="0" dirty="0">
                <a:solidFill>
                  <a:srgbClr val="3DDC97"/>
                </a:solidFill>
                <a:latin typeface="Arial" pitchFamily="34" charset="0"/>
                <a:ea typeface="Arial" pitchFamily="34" charset="-122"/>
                <a:cs typeface="Arial" pitchFamily="34" charset="-120"/>
              </a:rPr>
              <a:t>WF5 — DASHBOARD &amp; REPORTS</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Daily analytics, zero manual work</a:t>
            </a:r>
            <a:endParaRPr lang="en-US" sz="3200" dirty="0"/>
          </a:p>
        </p:txBody>
      </p:sp>
      <p:graphicFrame>
        <p:nvGraphicFramePr>
          <p:cNvPr id="4" name="Chart 0" descr=""/>
          <p:cNvGraphicFramePr/>
          <p:nvPr/>
        </p:nvGraphicFramePr>
        <p:xfrm>
          <a:off x="548640" y="1828800"/>
          <a:ext cx="6035040" cy="3840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858000" y="1828800"/>
            <a:ext cx="4800600" cy="3840480"/>
          </a:xfrm>
          <a:prstGeom prst="roundRect">
            <a:avLst>
              <a:gd name="adj" fmla="val 1905"/>
            </a:avLst>
          </a:prstGeom>
          <a:solidFill>
            <a:srgbClr val="141F30"/>
          </a:solidFill>
          <a:ln/>
        </p:spPr>
      </p:sp>
      <p:sp>
        <p:nvSpPr>
          <p:cNvPr id="6" name="Text 3"/>
          <p:cNvSpPr/>
          <p:nvPr/>
        </p:nvSpPr>
        <p:spPr>
          <a:xfrm>
            <a:off x="7132320" y="2057400"/>
            <a:ext cx="4297680" cy="365760"/>
          </a:xfrm>
          <a:prstGeom prst="rect">
            <a:avLst/>
          </a:prstGeom>
          <a:noFill/>
          <a:ln/>
        </p:spPr>
        <p:txBody>
          <a:bodyPr wrap="square" rtlCol="0" anchor="ctr"/>
          <a:lstStyle/>
          <a:p>
            <a:pPr indent="0" marL="0">
              <a:buNone/>
            </a:pPr>
            <a:r>
              <a:rPr lang="en-US" sz="1300" b="1" dirty="0">
                <a:solidFill>
                  <a:srgbClr val="3DDC97"/>
                </a:solidFill>
              </a:rPr>
              <a:t>Auto-generated email includes:</a:t>
            </a:r>
            <a:endParaRPr lang="en-US" sz="1300" dirty="0"/>
          </a:p>
        </p:txBody>
      </p:sp>
      <p:sp>
        <p:nvSpPr>
          <p:cNvPr id="7" name="Text 4"/>
          <p:cNvSpPr/>
          <p:nvPr/>
        </p:nvSpPr>
        <p:spPr>
          <a:xfrm>
            <a:off x="7132320" y="2560320"/>
            <a:ext cx="4297680" cy="457200"/>
          </a:xfrm>
          <a:prstGeom prst="rect">
            <a:avLst/>
          </a:prstGeom>
          <a:noFill/>
          <a:ln/>
        </p:spPr>
        <p:txBody>
          <a:bodyPr wrap="square" rtlCol="0" anchor="ctr"/>
          <a:lstStyle/>
          <a:p>
            <a:pPr indent="0" marL="0">
              <a:buNone/>
            </a:pPr>
            <a:r>
              <a:rPr lang="en-US" sz="1250" dirty="0">
                <a:solidFill>
                  <a:srgbClr val="FFFFFF"/>
                </a:solidFill>
              </a:rPr>
              <a:t>•  Total incidents in last 24h</a:t>
            </a:r>
            <a:endParaRPr lang="en-US" sz="1250" dirty="0"/>
          </a:p>
        </p:txBody>
      </p:sp>
      <p:sp>
        <p:nvSpPr>
          <p:cNvPr id="8" name="Text 5"/>
          <p:cNvSpPr/>
          <p:nvPr/>
        </p:nvSpPr>
        <p:spPr>
          <a:xfrm>
            <a:off x="7132320" y="3063240"/>
            <a:ext cx="4297680" cy="457200"/>
          </a:xfrm>
          <a:prstGeom prst="rect">
            <a:avLst/>
          </a:prstGeom>
          <a:noFill/>
          <a:ln/>
        </p:spPr>
        <p:txBody>
          <a:bodyPr wrap="square" rtlCol="0" anchor="ctr"/>
          <a:lstStyle/>
          <a:p>
            <a:pPr indent="0" marL="0">
              <a:buNone/>
            </a:pPr>
            <a:r>
              <a:rPr lang="en-US" sz="1250" dirty="0">
                <a:solidFill>
                  <a:srgbClr val="FFFFFF"/>
                </a:solidFill>
              </a:rPr>
              <a:t>•  Breakdown by severity, category, team</a:t>
            </a:r>
            <a:endParaRPr lang="en-US" sz="1250" dirty="0"/>
          </a:p>
        </p:txBody>
      </p:sp>
      <p:sp>
        <p:nvSpPr>
          <p:cNvPr id="9" name="Text 6"/>
          <p:cNvSpPr/>
          <p:nvPr/>
        </p:nvSpPr>
        <p:spPr>
          <a:xfrm>
            <a:off x="7132320" y="3566160"/>
            <a:ext cx="4297680" cy="457200"/>
          </a:xfrm>
          <a:prstGeom prst="rect">
            <a:avLst/>
          </a:prstGeom>
          <a:noFill/>
          <a:ln/>
        </p:spPr>
        <p:txBody>
          <a:bodyPr wrap="square" rtlCol="0" anchor="ctr"/>
          <a:lstStyle/>
          <a:p>
            <a:pPr indent="0" marL="0">
              <a:buNone/>
            </a:pPr>
            <a:r>
              <a:rPr lang="en-US" sz="1250" dirty="0">
                <a:solidFill>
                  <a:srgbClr val="FFFFFF"/>
                </a:solidFill>
              </a:rPr>
              <a:t>•  Average target SLA (minutes)</a:t>
            </a:r>
            <a:endParaRPr lang="en-US" sz="1250" dirty="0"/>
          </a:p>
        </p:txBody>
      </p:sp>
      <p:sp>
        <p:nvSpPr>
          <p:cNvPr id="10" name="Text 7"/>
          <p:cNvSpPr/>
          <p:nvPr/>
        </p:nvSpPr>
        <p:spPr>
          <a:xfrm>
            <a:off x="7132320" y="4069080"/>
            <a:ext cx="4297680" cy="457200"/>
          </a:xfrm>
          <a:prstGeom prst="rect">
            <a:avLst/>
          </a:prstGeom>
          <a:noFill/>
          <a:ln/>
        </p:spPr>
        <p:txBody>
          <a:bodyPr wrap="square" rtlCol="0" anchor="ctr"/>
          <a:lstStyle/>
          <a:p>
            <a:pPr indent="0" marL="0">
              <a:buNone/>
            </a:pPr>
            <a:r>
              <a:rPr lang="en-US" sz="1250" dirty="0">
                <a:solidFill>
                  <a:srgbClr val="FFFFFF"/>
                </a:solidFill>
              </a:rPr>
              <a:t>•  Top recurring vulnerability category</a:t>
            </a:r>
            <a:endParaRPr lang="en-US" sz="1250" dirty="0"/>
          </a:p>
        </p:txBody>
      </p:sp>
      <p:sp>
        <p:nvSpPr>
          <p:cNvPr id="11" name="Text 8"/>
          <p:cNvSpPr/>
          <p:nvPr/>
        </p:nvSpPr>
        <p:spPr>
          <a:xfrm>
            <a:off x="7132320" y="4572000"/>
            <a:ext cx="4297680" cy="457200"/>
          </a:xfrm>
          <a:prstGeom prst="rect">
            <a:avLst/>
          </a:prstGeom>
          <a:noFill/>
          <a:ln/>
        </p:spPr>
        <p:txBody>
          <a:bodyPr wrap="square" rtlCol="0" anchor="ctr"/>
          <a:lstStyle/>
          <a:p>
            <a:pPr indent="0" marL="0">
              <a:buNone/>
            </a:pPr>
            <a:r>
              <a:rPr lang="en-US" sz="1250" dirty="0">
                <a:solidFill>
                  <a:srgbClr val="FFFFFF"/>
                </a:solidFill>
              </a:rPr>
              <a:t>•  Posted to Slack #soc-general simultaneously</a:t>
            </a:r>
            <a:endParaRPr lang="en-US" sz="1250" dirty="0"/>
          </a:p>
        </p:txBody>
      </p:sp>
      <p:sp>
        <p:nvSpPr>
          <p:cNvPr id="12" name="Text 9"/>
          <p:cNvSpPr/>
          <p:nvPr/>
        </p:nvSpPr>
        <p:spPr>
          <a:xfrm>
            <a:off x="11338560" y="6492240"/>
            <a:ext cx="731520" cy="274320"/>
          </a:xfrm>
          <a:prstGeom prst="rect">
            <a:avLst/>
          </a:prstGeom>
          <a:noFill/>
          <a:ln/>
        </p:spPr>
        <p:txBody>
          <a:bodyPr wrap="square" rtlCol="0" anchor="ctr"/>
          <a:lstStyle/>
          <a:p>
            <a:pPr algn="r" indent="0" marL="0">
              <a:buNone/>
            </a:pPr>
            <a:r>
              <a:rPr lang="en-US" sz="1000" dirty="0">
                <a:solidFill>
                  <a:srgbClr val="9FB3C8"/>
                </a:solidFill>
              </a:rPr>
              <a:t>10 / 12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300" b="1" spc="200" kern="0" dirty="0">
                <a:solidFill>
                  <a:srgbClr val="3DDC97"/>
                </a:solidFill>
                <a:latin typeface="Arial" pitchFamily="34" charset="0"/>
                <a:ea typeface="Arial" pitchFamily="34" charset="-122"/>
                <a:cs typeface="Arial" pitchFamily="34" charset="-120"/>
              </a:rPr>
              <a:t>DELIVERABLES</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What's included in this submission</a:t>
            </a:r>
            <a:endParaRPr lang="en-US" sz="3200" dirty="0"/>
          </a:p>
        </p:txBody>
      </p:sp>
      <p:sp>
        <p:nvSpPr>
          <p:cNvPr id="4" name="Shape 2"/>
          <p:cNvSpPr/>
          <p:nvPr/>
        </p:nvSpPr>
        <p:spPr>
          <a:xfrm>
            <a:off x="548640" y="1874520"/>
            <a:ext cx="3566160" cy="1737360"/>
          </a:xfrm>
          <a:prstGeom prst="roundRect">
            <a:avLst>
              <a:gd name="adj" fmla="val 4211"/>
            </a:avLst>
          </a:prstGeom>
          <a:solidFill>
            <a:srgbClr val="141F30"/>
          </a:solidFill>
          <a:ln/>
        </p:spPr>
      </p:sp>
      <p:sp>
        <p:nvSpPr>
          <p:cNvPr id="5" name="Shape 3"/>
          <p:cNvSpPr/>
          <p:nvPr/>
        </p:nvSpPr>
        <p:spPr>
          <a:xfrm>
            <a:off x="777240" y="2103120"/>
            <a:ext cx="411480" cy="411480"/>
          </a:xfrm>
          <a:prstGeom prst="roundRect">
            <a:avLst>
              <a:gd name="adj" fmla="val 48889"/>
            </a:avLst>
          </a:prstGeom>
          <a:solidFill>
            <a:srgbClr val="3DDC97"/>
          </a:solidFill>
          <a:ln/>
        </p:spPr>
      </p:sp>
      <p:sp>
        <p:nvSpPr>
          <p:cNvPr id="6" name="Text 4"/>
          <p:cNvSpPr/>
          <p:nvPr/>
        </p:nvSpPr>
        <p:spPr>
          <a:xfrm>
            <a:off x="777240" y="2103120"/>
            <a:ext cx="411480" cy="411480"/>
          </a:xfrm>
          <a:prstGeom prst="rect">
            <a:avLst/>
          </a:prstGeom>
          <a:noFill/>
          <a:ln/>
        </p:spPr>
        <p:txBody>
          <a:bodyPr wrap="square" rtlCol="0" anchor="ctr"/>
          <a:lstStyle/>
          <a:p>
            <a:pPr algn="ctr" indent="0" marL="0">
              <a:buNone/>
            </a:pPr>
            <a:r>
              <a:rPr lang="en-US" sz="1600" b="1" dirty="0">
                <a:solidFill>
                  <a:srgbClr val="0B1220"/>
                </a:solidFill>
              </a:rPr>
              <a:t>✓</a:t>
            </a:r>
            <a:endParaRPr lang="en-US" sz="1600" dirty="0"/>
          </a:p>
        </p:txBody>
      </p:sp>
      <p:sp>
        <p:nvSpPr>
          <p:cNvPr id="7" name="Text 5"/>
          <p:cNvSpPr/>
          <p:nvPr/>
        </p:nvSpPr>
        <p:spPr>
          <a:xfrm>
            <a:off x="1325880" y="2057400"/>
            <a:ext cx="2606040" cy="502920"/>
          </a:xfrm>
          <a:prstGeom prst="rect">
            <a:avLst/>
          </a:prstGeom>
          <a:noFill/>
          <a:ln/>
        </p:spPr>
        <p:txBody>
          <a:bodyPr wrap="square" rtlCol="0" anchor="ctr"/>
          <a:lstStyle/>
          <a:p>
            <a:pPr indent="0" marL="0">
              <a:buNone/>
            </a:pPr>
            <a:r>
              <a:rPr lang="en-US" sz="1400" b="1" dirty="0">
                <a:solidFill>
                  <a:srgbClr val="FFFFFF"/>
                </a:solidFill>
              </a:rPr>
              <a:t>6 Workflow JSONs</a:t>
            </a:r>
            <a:endParaRPr lang="en-US" sz="1400" dirty="0"/>
          </a:p>
        </p:txBody>
      </p:sp>
      <p:sp>
        <p:nvSpPr>
          <p:cNvPr id="8" name="Text 6"/>
          <p:cNvSpPr/>
          <p:nvPr/>
        </p:nvSpPr>
        <p:spPr>
          <a:xfrm>
            <a:off x="777240" y="2651760"/>
            <a:ext cx="3108960" cy="868680"/>
          </a:xfrm>
          <a:prstGeom prst="rect">
            <a:avLst/>
          </a:prstGeom>
          <a:noFill/>
          <a:ln/>
        </p:spPr>
        <p:txBody>
          <a:bodyPr wrap="square" rtlCol="0" anchor="t"/>
          <a:lstStyle/>
          <a:p>
            <a:pPr indent="0" marL="0">
              <a:buNone/>
            </a:pPr>
            <a:r>
              <a:rPr lang="en-US" sz="1150" dirty="0">
                <a:solidFill>
                  <a:srgbClr val="9FB3C8"/>
                </a:solidFill>
              </a:rPr>
              <a:t>WF1-WF6, importable directly into n8n</a:t>
            </a:r>
            <a:endParaRPr lang="en-US" sz="1150" dirty="0"/>
          </a:p>
        </p:txBody>
      </p:sp>
      <p:sp>
        <p:nvSpPr>
          <p:cNvPr id="9" name="Shape 7"/>
          <p:cNvSpPr/>
          <p:nvPr/>
        </p:nvSpPr>
        <p:spPr>
          <a:xfrm>
            <a:off x="4297680" y="1874520"/>
            <a:ext cx="3566160" cy="1737360"/>
          </a:xfrm>
          <a:prstGeom prst="roundRect">
            <a:avLst>
              <a:gd name="adj" fmla="val 4211"/>
            </a:avLst>
          </a:prstGeom>
          <a:solidFill>
            <a:srgbClr val="141F30"/>
          </a:solidFill>
          <a:ln/>
        </p:spPr>
      </p:sp>
      <p:sp>
        <p:nvSpPr>
          <p:cNvPr id="10" name="Shape 8"/>
          <p:cNvSpPr/>
          <p:nvPr/>
        </p:nvSpPr>
        <p:spPr>
          <a:xfrm>
            <a:off x="4526280" y="2103120"/>
            <a:ext cx="411480" cy="411480"/>
          </a:xfrm>
          <a:prstGeom prst="roundRect">
            <a:avLst>
              <a:gd name="adj" fmla="val 48889"/>
            </a:avLst>
          </a:prstGeom>
          <a:solidFill>
            <a:srgbClr val="3DDC97"/>
          </a:solidFill>
          <a:ln/>
        </p:spPr>
      </p:sp>
      <p:sp>
        <p:nvSpPr>
          <p:cNvPr id="11" name="Text 9"/>
          <p:cNvSpPr/>
          <p:nvPr/>
        </p:nvSpPr>
        <p:spPr>
          <a:xfrm>
            <a:off x="4526280" y="2103120"/>
            <a:ext cx="411480" cy="411480"/>
          </a:xfrm>
          <a:prstGeom prst="rect">
            <a:avLst/>
          </a:prstGeom>
          <a:noFill/>
          <a:ln/>
        </p:spPr>
        <p:txBody>
          <a:bodyPr wrap="square" rtlCol="0" anchor="ctr"/>
          <a:lstStyle/>
          <a:p>
            <a:pPr algn="ctr" indent="0" marL="0">
              <a:buNone/>
            </a:pPr>
            <a:r>
              <a:rPr lang="en-US" sz="1600" b="1" dirty="0">
                <a:solidFill>
                  <a:srgbClr val="0B1220"/>
                </a:solidFill>
              </a:rPr>
              <a:t>✓</a:t>
            </a:r>
            <a:endParaRPr lang="en-US" sz="1600" dirty="0"/>
          </a:p>
        </p:txBody>
      </p:sp>
      <p:sp>
        <p:nvSpPr>
          <p:cNvPr id="12" name="Text 10"/>
          <p:cNvSpPr/>
          <p:nvPr/>
        </p:nvSpPr>
        <p:spPr>
          <a:xfrm>
            <a:off x="5074920" y="2057400"/>
            <a:ext cx="2606040" cy="502920"/>
          </a:xfrm>
          <a:prstGeom prst="rect">
            <a:avLst/>
          </a:prstGeom>
          <a:noFill/>
          <a:ln/>
        </p:spPr>
        <p:txBody>
          <a:bodyPr wrap="square" rtlCol="0" anchor="ctr"/>
          <a:lstStyle/>
          <a:p>
            <a:pPr indent="0" marL="0">
              <a:buNone/>
            </a:pPr>
            <a:r>
              <a:rPr lang="en-US" sz="1400" b="1" dirty="0">
                <a:solidFill>
                  <a:srgbClr val="FFFFFF"/>
                </a:solidFill>
              </a:rPr>
              <a:t>Problem Analysis</a:t>
            </a:r>
            <a:endParaRPr lang="en-US" sz="1400" dirty="0"/>
          </a:p>
        </p:txBody>
      </p:sp>
      <p:sp>
        <p:nvSpPr>
          <p:cNvPr id="13" name="Text 11"/>
          <p:cNvSpPr/>
          <p:nvPr/>
        </p:nvSpPr>
        <p:spPr>
          <a:xfrm>
            <a:off x="4526280" y="2651760"/>
            <a:ext cx="3108960" cy="868680"/>
          </a:xfrm>
          <a:prstGeom prst="rect">
            <a:avLst/>
          </a:prstGeom>
          <a:noFill/>
          <a:ln/>
        </p:spPr>
        <p:txBody>
          <a:bodyPr wrap="square" rtlCol="0" anchor="t"/>
          <a:lstStyle/>
          <a:p>
            <a:pPr indent="0" marL="0">
              <a:buNone/>
            </a:pPr>
            <a:r>
              <a:rPr lang="en-US" sz="1150" dirty="0">
                <a:solidFill>
                  <a:srgbClr val="9FB3C8"/>
                </a:solidFill>
              </a:rPr>
              <a:t>Context, stakeholders, pain points, objectives</a:t>
            </a:r>
            <a:endParaRPr lang="en-US" sz="1150" dirty="0"/>
          </a:p>
        </p:txBody>
      </p:sp>
      <p:sp>
        <p:nvSpPr>
          <p:cNvPr id="14" name="Shape 12"/>
          <p:cNvSpPr/>
          <p:nvPr/>
        </p:nvSpPr>
        <p:spPr>
          <a:xfrm>
            <a:off x="8046720" y="1874520"/>
            <a:ext cx="3566160" cy="1737360"/>
          </a:xfrm>
          <a:prstGeom prst="roundRect">
            <a:avLst>
              <a:gd name="adj" fmla="val 4211"/>
            </a:avLst>
          </a:prstGeom>
          <a:solidFill>
            <a:srgbClr val="141F30"/>
          </a:solidFill>
          <a:ln/>
        </p:spPr>
      </p:sp>
      <p:sp>
        <p:nvSpPr>
          <p:cNvPr id="15" name="Shape 13"/>
          <p:cNvSpPr/>
          <p:nvPr/>
        </p:nvSpPr>
        <p:spPr>
          <a:xfrm>
            <a:off x="8275320" y="2103120"/>
            <a:ext cx="411480" cy="411480"/>
          </a:xfrm>
          <a:prstGeom prst="roundRect">
            <a:avLst>
              <a:gd name="adj" fmla="val 48889"/>
            </a:avLst>
          </a:prstGeom>
          <a:solidFill>
            <a:srgbClr val="3DDC97"/>
          </a:solidFill>
          <a:ln/>
        </p:spPr>
      </p:sp>
      <p:sp>
        <p:nvSpPr>
          <p:cNvPr id="16" name="Text 14"/>
          <p:cNvSpPr/>
          <p:nvPr/>
        </p:nvSpPr>
        <p:spPr>
          <a:xfrm>
            <a:off x="8275320" y="2103120"/>
            <a:ext cx="411480" cy="411480"/>
          </a:xfrm>
          <a:prstGeom prst="rect">
            <a:avLst/>
          </a:prstGeom>
          <a:noFill/>
          <a:ln/>
        </p:spPr>
        <p:txBody>
          <a:bodyPr wrap="square" rtlCol="0" anchor="ctr"/>
          <a:lstStyle/>
          <a:p>
            <a:pPr algn="ctr" indent="0" marL="0">
              <a:buNone/>
            </a:pPr>
            <a:r>
              <a:rPr lang="en-US" sz="1600" b="1" dirty="0">
                <a:solidFill>
                  <a:srgbClr val="0B1220"/>
                </a:solidFill>
              </a:rPr>
              <a:t>✓</a:t>
            </a:r>
            <a:endParaRPr lang="en-US" sz="1600" dirty="0"/>
          </a:p>
        </p:txBody>
      </p:sp>
      <p:sp>
        <p:nvSpPr>
          <p:cNvPr id="17" name="Text 15"/>
          <p:cNvSpPr/>
          <p:nvPr/>
        </p:nvSpPr>
        <p:spPr>
          <a:xfrm>
            <a:off x="8823960" y="2057400"/>
            <a:ext cx="2606040" cy="502920"/>
          </a:xfrm>
          <a:prstGeom prst="rect">
            <a:avLst/>
          </a:prstGeom>
          <a:noFill/>
          <a:ln/>
        </p:spPr>
        <p:txBody>
          <a:bodyPr wrap="square" rtlCol="0" anchor="ctr"/>
          <a:lstStyle/>
          <a:p>
            <a:pPr indent="0" marL="0">
              <a:buNone/>
            </a:pPr>
            <a:r>
              <a:rPr lang="en-US" sz="1400" b="1" dirty="0">
                <a:solidFill>
                  <a:srgbClr val="FFFFFF"/>
                </a:solidFill>
              </a:rPr>
              <a:t>Architecture Docs</a:t>
            </a:r>
            <a:endParaRPr lang="en-US" sz="1400" dirty="0"/>
          </a:p>
        </p:txBody>
      </p:sp>
      <p:sp>
        <p:nvSpPr>
          <p:cNvPr id="18" name="Text 16"/>
          <p:cNvSpPr/>
          <p:nvPr/>
        </p:nvSpPr>
        <p:spPr>
          <a:xfrm>
            <a:off x="8275320" y="2651760"/>
            <a:ext cx="3108960" cy="868680"/>
          </a:xfrm>
          <a:prstGeom prst="rect">
            <a:avLst/>
          </a:prstGeom>
          <a:noFill/>
          <a:ln/>
        </p:spPr>
        <p:txBody>
          <a:bodyPr wrap="square" rtlCol="0" anchor="t"/>
          <a:lstStyle/>
          <a:p>
            <a:pPr indent="0" marL="0">
              <a:buNone/>
            </a:pPr>
            <a:r>
              <a:rPr lang="en-US" sz="1150" dirty="0">
                <a:solidFill>
                  <a:srgbClr val="9FB3C8"/>
                </a:solidFill>
              </a:rPr>
              <a:t>System diagram, sequence flow, event table</a:t>
            </a:r>
            <a:endParaRPr lang="en-US" sz="1150" dirty="0"/>
          </a:p>
        </p:txBody>
      </p:sp>
      <p:sp>
        <p:nvSpPr>
          <p:cNvPr id="19" name="Shape 17"/>
          <p:cNvSpPr/>
          <p:nvPr/>
        </p:nvSpPr>
        <p:spPr>
          <a:xfrm>
            <a:off x="548640" y="3840480"/>
            <a:ext cx="3566160" cy="1737360"/>
          </a:xfrm>
          <a:prstGeom prst="roundRect">
            <a:avLst>
              <a:gd name="adj" fmla="val 4211"/>
            </a:avLst>
          </a:prstGeom>
          <a:solidFill>
            <a:srgbClr val="141F30"/>
          </a:solidFill>
          <a:ln/>
        </p:spPr>
      </p:sp>
      <p:sp>
        <p:nvSpPr>
          <p:cNvPr id="20" name="Shape 18"/>
          <p:cNvSpPr/>
          <p:nvPr/>
        </p:nvSpPr>
        <p:spPr>
          <a:xfrm>
            <a:off x="777240" y="4069080"/>
            <a:ext cx="411480" cy="411480"/>
          </a:xfrm>
          <a:prstGeom prst="roundRect">
            <a:avLst>
              <a:gd name="adj" fmla="val 48889"/>
            </a:avLst>
          </a:prstGeom>
          <a:solidFill>
            <a:srgbClr val="3DDC97"/>
          </a:solidFill>
          <a:ln/>
        </p:spPr>
      </p:sp>
      <p:sp>
        <p:nvSpPr>
          <p:cNvPr id="21" name="Text 19"/>
          <p:cNvSpPr/>
          <p:nvPr/>
        </p:nvSpPr>
        <p:spPr>
          <a:xfrm>
            <a:off x="777240" y="4069080"/>
            <a:ext cx="411480" cy="411480"/>
          </a:xfrm>
          <a:prstGeom prst="rect">
            <a:avLst/>
          </a:prstGeom>
          <a:noFill/>
          <a:ln/>
        </p:spPr>
        <p:txBody>
          <a:bodyPr wrap="square" rtlCol="0" anchor="ctr"/>
          <a:lstStyle/>
          <a:p>
            <a:pPr algn="ctr" indent="0" marL="0">
              <a:buNone/>
            </a:pPr>
            <a:r>
              <a:rPr lang="en-US" sz="1600" b="1" dirty="0">
                <a:solidFill>
                  <a:srgbClr val="0B1220"/>
                </a:solidFill>
              </a:rPr>
              <a:t>✓</a:t>
            </a:r>
            <a:endParaRPr lang="en-US" sz="1600" dirty="0"/>
          </a:p>
        </p:txBody>
      </p:sp>
      <p:sp>
        <p:nvSpPr>
          <p:cNvPr id="22" name="Text 20"/>
          <p:cNvSpPr/>
          <p:nvPr/>
        </p:nvSpPr>
        <p:spPr>
          <a:xfrm>
            <a:off x="1325880" y="4023360"/>
            <a:ext cx="2606040" cy="502920"/>
          </a:xfrm>
          <a:prstGeom prst="rect">
            <a:avLst/>
          </a:prstGeom>
          <a:noFill/>
          <a:ln/>
        </p:spPr>
        <p:txBody>
          <a:bodyPr wrap="square" rtlCol="0" anchor="ctr"/>
          <a:lstStyle/>
          <a:p>
            <a:pPr indent="0" marL="0">
              <a:buNone/>
            </a:pPr>
            <a:r>
              <a:rPr lang="en-US" sz="1400" b="1" dirty="0">
                <a:solidFill>
                  <a:srgbClr val="FFFFFF"/>
                </a:solidFill>
              </a:rPr>
              <a:t>GitHub README</a:t>
            </a:r>
            <a:endParaRPr lang="en-US" sz="1400" dirty="0"/>
          </a:p>
        </p:txBody>
      </p:sp>
      <p:sp>
        <p:nvSpPr>
          <p:cNvPr id="23" name="Text 21"/>
          <p:cNvSpPr/>
          <p:nvPr/>
        </p:nvSpPr>
        <p:spPr>
          <a:xfrm>
            <a:off x="777240" y="4617720"/>
            <a:ext cx="3108960" cy="868680"/>
          </a:xfrm>
          <a:prstGeom prst="rect">
            <a:avLst/>
          </a:prstGeom>
          <a:noFill/>
          <a:ln/>
        </p:spPr>
        <p:txBody>
          <a:bodyPr wrap="square" rtlCol="0" anchor="t"/>
          <a:lstStyle/>
          <a:p>
            <a:pPr indent="0" marL="0">
              <a:buNone/>
            </a:pPr>
            <a:r>
              <a:rPr lang="en-US" sz="1150" dirty="0">
                <a:solidFill>
                  <a:srgbClr val="9FB3C8"/>
                </a:solidFill>
              </a:rPr>
              <a:t>Setup steps, credentials, test commands</a:t>
            </a:r>
            <a:endParaRPr lang="en-US" sz="1150" dirty="0"/>
          </a:p>
        </p:txBody>
      </p:sp>
      <p:sp>
        <p:nvSpPr>
          <p:cNvPr id="24" name="Shape 22"/>
          <p:cNvSpPr/>
          <p:nvPr/>
        </p:nvSpPr>
        <p:spPr>
          <a:xfrm>
            <a:off x="4297680" y="3840480"/>
            <a:ext cx="3566160" cy="1737360"/>
          </a:xfrm>
          <a:prstGeom prst="roundRect">
            <a:avLst>
              <a:gd name="adj" fmla="val 4211"/>
            </a:avLst>
          </a:prstGeom>
          <a:solidFill>
            <a:srgbClr val="141F30"/>
          </a:solidFill>
          <a:ln/>
        </p:spPr>
      </p:sp>
      <p:sp>
        <p:nvSpPr>
          <p:cNvPr id="25" name="Shape 23"/>
          <p:cNvSpPr/>
          <p:nvPr/>
        </p:nvSpPr>
        <p:spPr>
          <a:xfrm>
            <a:off x="4526280" y="4069080"/>
            <a:ext cx="411480" cy="411480"/>
          </a:xfrm>
          <a:prstGeom prst="roundRect">
            <a:avLst>
              <a:gd name="adj" fmla="val 48889"/>
            </a:avLst>
          </a:prstGeom>
          <a:solidFill>
            <a:srgbClr val="3DDC97"/>
          </a:solidFill>
          <a:ln/>
        </p:spPr>
      </p:sp>
      <p:sp>
        <p:nvSpPr>
          <p:cNvPr id="26" name="Text 24"/>
          <p:cNvSpPr/>
          <p:nvPr/>
        </p:nvSpPr>
        <p:spPr>
          <a:xfrm>
            <a:off x="4526280" y="4069080"/>
            <a:ext cx="411480" cy="411480"/>
          </a:xfrm>
          <a:prstGeom prst="rect">
            <a:avLst/>
          </a:prstGeom>
          <a:noFill/>
          <a:ln/>
        </p:spPr>
        <p:txBody>
          <a:bodyPr wrap="square" rtlCol="0" anchor="ctr"/>
          <a:lstStyle/>
          <a:p>
            <a:pPr algn="ctr" indent="0" marL="0">
              <a:buNone/>
            </a:pPr>
            <a:r>
              <a:rPr lang="en-US" sz="1600" b="1" dirty="0">
                <a:solidFill>
                  <a:srgbClr val="0B1220"/>
                </a:solidFill>
              </a:rPr>
              <a:t>✓</a:t>
            </a:r>
            <a:endParaRPr lang="en-US" sz="1600" dirty="0"/>
          </a:p>
        </p:txBody>
      </p:sp>
      <p:sp>
        <p:nvSpPr>
          <p:cNvPr id="27" name="Text 25"/>
          <p:cNvSpPr/>
          <p:nvPr/>
        </p:nvSpPr>
        <p:spPr>
          <a:xfrm>
            <a:off x="5074920" y="4023360"/>
            <a:ext cx="2606040" cy="502920"/>
          </a:xfrm>
          <a:prstGeom prst="rect">
            <a:avLst/>
          </a:prstGeom>
          <a:noFill/>
          <a:ln/>
        </p:spPr>
        <p:txBody>
          <a:bodyPr wrap="square" rtlCol="0" anchor="ctr"/>
          <a:lstStyle/>
          <a:p>
            <a:pPr indent="0" marL="0">
              <a:buNone/>
            </a:pPr>
            <a:r>
              <a:rPr lang="en-US" sz="1400" b="1" dirty="0">
                <a:solidFill>
                  <a:srgbClr val="FFFFFF"/>
                </a:solidFill>
              </a:rPr>
              <a:t>This Presentation</a:t>
            </a:r>
            <a:endParaRPr lang="en-US" sz="1400" dirty="0"/>
          </a:p>
        </p:txBody>
      </p:sp>
      <p:sp>
        <p:nvSpPr>
          <p:cNvPr id="28" name="Text 26"/>
          <p:cNvSpPr/>
          <p:nvPr/>
        </p:nvSpPr>
        <p:spPr>
          <a:xfrm>
            <a:off x="4526280" y="4617720"/>
            <a:ext cx="3108960" cy="868680"/>
          </a:xfrm>
          <a:prstGeom prst="rect">
            <a:avLst/>
          </a:prstGeom>
          <a:noFill/>
          <a:ln/>
        </p:spPr>
        <p:txBody>
          <a:bodyPr wrap="square" rtlCol="0" anchor="t"/>
          <a:lstStyle/>
          <a:p>
            <a:pPr indent="0" marL="0">
              <a:buNone/>
            </a:pPr>
            <a:r>
              <a:rPr lang="en-US" sz="1150" dirty="0">
                <a:solidFill>
                  <a:srgbClr val="9FB3C8"/>
                </a:solidFill>
              </a:rPr>
              <a:t>10-12 slide overview for judges</a:t>
            </a:r>
            <a:endParaRPr lang="en-US" sz="1150" dirty="0"/>
          </a:p>
        </p:txBody>
      </p:sp>
      <p:sp>
        <p:nvSpPr>
          <p:cNvPr id="29" name="Shape 27"/>
          <p:cNvSpPr/>
          <p:nvPr/>
        </p:nvSpPr>
        <p:spPr>
          <a:xfrm>
            <a:off x="8046720" y="3840480"/>
            <a:ext cx="3566160" cy="1737360"/>
          </a:xfrm>
          <a:prstGeom prst="roundRect">
            <a:avLst>
              <a:gd name="adj" fmla="val 4211"/>
            </a:avLst>
          </a:prstGeom>
          <a:solidFill>
            <a:srgbClr val="141F30"/>
          </a:solidFill>
          <a:ln/>
        </p:spPr>
      </p:sp>
      <p:sp>
        <p:nvSpPr>
          <p:cNvPr id="30" name="Shape 28"/>
          <p:cNvSpPr/>
          <p:nvPr/>
        </p:nvSpPr>
        <p:spPr>
          <a:xfrm>
            <a:off x="8275320" y="4069080"/>
            <a:ext cx="411480" cy="411480"/>
          </a:xfrm>
          <a:prstGeom prst="roundRect">
            <a:avLst>
              <a:gd name="adj" fmla="val 48889"/>
            </a:avLst>
          </a:prstGeom>
          <a:solidFill>
            <a:srgbClr val="3DDC97"/>
          </a:solidFill>
          <a:ln/>
        </p:spPr>
      </p:sp>
      <p:sp>
        <p:nvSpPr>
          <p:cNvPr id="31" name="Text 29"/>
          <p:cNvSpPr/>
          <p:nvPr/>
        </p:nvSpPr>
        <p:spPr>
          <a:xfrm>
            <a:off x="8275320" y="4069080"/>
            <a:ext cx="411480" cy="411480"/>
          </a:xfrm>
          <a:prstGeom prst="rect">
            <a:avLst/>
          </a:prstGeom>
          <a:noFill/>
          <a:ln/>
        </p:spPr>
        <p:txBody>
          <a:bodyPr wrap="square" rtlCol="0" anchor="ctr"/>
          <a:lstStyle/>
          <a:p>
            <a:pPr algn="ctr" indent="0" marL="0">
              <a:buNone/>
            </a:pPr>
            <a:r>
              <a:rPr lang="en-US" sz="1600" b="1" dirty="0">
                <a:solidFill>
                  <a:srgbClr val="0B1220"/>
                </a:solidFill>
              </a:rPr>
              <a:t>✓</a:t>
            </a:r>
            <a:endParaRPr lang="en-US" sz="1600" dirty="0"/>
          </a:p>
        </p:txBody>
      </p:sp>
      <p:sp>
        <p:nvSpPr>
          <p:cNvPr id="32" name="Text 30"/>
          <p:cNvSpPr/>
          <p:nvPr/>
        </p:nvSpPr>
        <p:spPr>
          <a:xfrm>
            <a:off x="8823960" y="4023360"/>
            <a:ext cx="2606040" cy="502920"/>
          </a:xfrm>
          <a:prstGeom prst="rect">
            <a:avLst/>
          </a:prstGeom>
          <a:noFill/>
          <a:ln/>
        </p:spPr>
        <p:txBody>
          <a:bodyPr wrap="square" rtlCol="0" anchor="ctr"/>
          <a:lstStyle/>
          <a:p>
            <a:pPr indent="0" marL="0">
              <a:buNone/>
            </a:pPr>
            <a:r>
              <a:rPr lang="en-US" sz="1400" b="1" dirty="0">
                <a:solidFill>
                  <a:srgbClr val="FFFFFF"/>
                </a:solidFill>
              </a:rPr>
              <a:t>Demo Video</a:t>
            </a:r>
            <a:endParaRPr lang="en-US" sz="1400" dirty="0"/>
          </a:p>
        </p:txBody>
      </p:sp>
      <p:sp>
        <p:nvSpPr>
          <p:cNvPr id="33" name="Text 31"/>
          <p:cNvSpPr/>
          <p:nvPr/>
        </p:nvSpPr>
        <p:spPr>
          <a:xfrm>
            <a:off x="8275320" y="4617720"/>
            <a:ext cx="3108960" cy="868680"/>
          </a:xfrm>
          <a:prstGeom prst="rect">
            <a:avLst/>
          </a:prstGeom>
          <a:noFill/>
          <a:ln/>
        </p:spPr>
        <p:txBody>
          <a:bodyPr wrap="square" rtlCol="0" anchor="t"/>
          <a:lstStyle/>
          <a:p>
            <a:pPr indent="0" marL="0">
              <a:buNone/>
            </a:pPr>
            <a:r>
              <a:rPr lang="en-US" sz="1150" dirty="0">
                <a:solidFill>
                  <a:srgbClr val="9FB3C8"/>
                </a:solidFill>
              </a:rPr>
              <a:t>5-10 min live walkthrough of the pipeline</a:t>
            </a:r>
            <a:endParaRPr lang="en-US" sz="1150" dirty="0"/>
          </a:p>
        </p:txBody>
      </p:sp>
      <p:sp>
        <p:nvSpPr>
          <p:cNvPr id="34" name="Text 32"/>
          <p:cNvSpPr/>
          <p:nvPr/>
        </p:nvSpPr>
        <p:spPr>
          <a:xfrm>
            <a:off x="11338560" y="6492240"/>
            <a:ext cx="731520" cy="274320"/>
          </a:xfrm>
          <a:prstGeom prst="rect">
            <a:avLst/>
          </a:prstGeom>
          <a:noFill/>
          <a:ln/>
        </p:spPr>
        <p:txBody>
          <a:bodyPr wrap="square" rtlCol="0" anchor="ctr"/>
          <a:lstStyle/>
          <a:p>
            <a:pPr algn="r" indent="0" marL="0">
              <a:buNone/>
            </a:pPr>
            <a:r>
              <a:rPr lang="en-US" sz="1000" dirty="0">
                <a:solidFill>
                  <a:srgbClr val="9FB3C8"/>
                </a:solidFill>
              </a:rPr>
              <a:t>11 / 12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220"/>
          </a:solidFill>
          <a:ln/>
        </p:spPr>
      </p:sp>
      <p:pic>
        <p:nvPicPr>
          <p:cNvPr id="3" name="Image 0" descr="icons/next_accent.png">    </p:cNvPr>
          <p:cNvPicPr>
            <a:picLocks noChangeAspect="1"/>
          </p:cNvPicPr>
          <p:nvPr/>
        </p:nvPicPr>
        <p:blipFill>
          <a:blip r:embed="rId1"/>
          <a:stretch>
            <a:fillRect/>
          </a:stretch>
        </p:blipFill>
        <p:spPr>
          <a:xfrm>
            <a:off x="548640" y="594360"/>
            <a:ext cx="594360" cy="594360"/>
          </a:xfrm>
          <a:prstGeom prst="rect">
            <a:avLst/>
          </a:prstGeom>
        </p:spPr>
      </p:pic>
      <p:sp>
        <p:nvSpPr>
          <p:cNvPr id="4" name="Text 1"/>
          <p:cNvSpPr/>
          <p:nvPr/>
        </p:nvSpPr>
        <p:spPr>
          <a:xfrm>
            <a:off x="548640" y="365760"/>
            <a:ext cx="7315200" cy="320040"/>
          </a:xfrm>
          <a:prstGeom prst="rect">
            <a:avLst/>
          </a:prstGeom>
          <a:noFill/>
          <a:ln/>
        </p:spPr>
        <p:txBody>
          <a:bodyPr wrap="square" rtlCol="0" anchor="ctr"/>
          <a:lstStyle/>
          <a:p>
            <a:pPr indent="0" marL="0">
              <a:buNone/>
            </a:pPr>
            <a:r>
              <a:rPr lang="en-US" sz="1300" b="1" spc="200" kern="0" dirty="0">
                <a:solidFill>
                  <a:srgbClr val="3DDC97"/>
                </a:solidFill>
                <a:latin typeface="Arial" pitchFamily="34" charset="0"/>
                <a:ea typeface="Arial" pitchFamily="34" charset="-122"/>
                <a:cs typeface="Arial" pitchFamily="34" charset="-120"/>
              </a:rPr>
              <a:t>WHAT'S NEXT</a:t>
            </a:r>
            <a:endParaRPr lang="en-US" sz="1300" dirty="0"/>
          </a:p>
        </p:txBody>
      </p:sp>
      <p:sp>
        <p:nvSpPr>
          <p:cNvPr id="5" name="Text 2"/>
          <p:cNvSpPr/>
          <p:nvPr/>
        </p:nvSpPr>
        <p:spPr>
          <a:xfrm>
            <a:off x="548640" y="1234440"/>
            <a:ext cx="10058400" cy="640080"/>
          </a:xfrm>
          <a:prstGeom prst="rect">
            <a:avLst/>
          </a:prstGeom>
          <a:noFill/>
          <a:ln/>
        </p:spPr>
        <p:txBody>
          <a:bodyPr wrap="square" rtlCol="0" anchor="ctr"/>
          <a:lstStyle/>
          <a:p>
            <a:pPr indent="0" marL="0">
              <a:buNone/>
            </a:pPr>
            <a:r>
              <a:rPr lang="en-US" sz="3000" b="1" dirty="0">
                <a:solidFill>
                  <a:srgbClr val="FFFFFF"/>
                </a:solidFill>
              </a:rPr>
              <a:t>Roadmap beyond the hackathon</a:t>
            </a:r>
            <a:endParaRPr lang="en-US" sz="3000" dirty="0"/>
          </a:p>
        </p:txBody>
      </p:sp>
      <p:sp>
        <p:nvSpPr>
          <p:cNvPr id="6" name="Shape 3"/>
          <p:cNvSpPr/>
          <p:nvPr/>
        </p:nvSpPr>
        <p:spPr>
          <a:xfrm>
            <a:off x="640080" y="2267712"/>
            <a:ext cx="128016" cy="128016"/>
          </a:xfrm>
          <a:prstGeom prst="ellipse">
            <a:avLst/>
          </a:prstGeom>
          <a:solidFill>
            <a:srgbClr val="3DDC97"/>
          </a:solidFill>
          <a:ln/>
        </p:spPr>
      </p:sp>
      <p:sp>
        <p:nvSpPr>
          <p:cNvPr id="7" name="Text 4"/>
          <p:cNvSpPr/>
          <p:nvPr/>
        </p:nvSpPr>
        <p:spPr>
          <a:xfrm>
            <a:off x="1005840" y="2103120"/>
            <a:ext cx="9875520" cy="548640"/>
          </a:xfrm>
          <a:prstGeom prst="rect">
            <a:avLst/>
          </a:prstGeom>
          <a:noFill/>
          <a:ln/>
        </p:spPr>
        <p:txBody>
          <a:bodyPr wrap="square" rtlCol="0" anchor="ctr"/>
          <a:lstStyle/>
          <a:p>
            <a:pPr indent="0" marL="0">
              <a:buNone/>
            </a:pPr>
            <a:r>
              <a:rPr lang="en-US" sz="1500" dirty="0">
                <a:solidFill>
                  <a:srgbClr val="FFFFFF"/>
                </a:solidFill>
              </a:rPr>
              <a:t>Swap generic webhook for native SIEM connectors (Wazuh, Elastic, Sentinel)</a:t>
            </a:r>
            <a:endParaRPr lang="en-US" sz="1500" dirty="0"/>
          </a:p>
        </p:txBody>
      </p:sp>
      <p:sp>
        <p:nvSpPr>
          <p:cNvPr id="8" name="Shape 5"/>
          <p:cNvSpPr/>
          <p:nvPr/>
        </p:nvSpPr>
        <p:spPr>
          <a:xfrm>
            <a:off x="640080" y="2953512"/>
            <a:ext cx="128016" cy="128016"/>
          </a:xfrm>
          <a:prstGeom prst="ellipse">
            <a:avLst/>
          </a:prstGeom>
          <a:solidFill>
            <a:srgbClr val="3DDC97"/>
          </a:solidFill>
          <a:ln/>
        </p:spPr>
      </p:sp>
      <p:sp>
        <p:nvSpPr>
          <p:cNvPr id="9" name="Text 6"/>
          <p:cNvSpPr/>
          <p:nvPr/>
        </p:nvSpPr>
        <p:spPr>
          <a:xfrm>
            <a:off x="1005840" y="2788920"/>
            <a:ext cx="9875520" cy="548640"/>
          </a:xfrm>
          <a:prstGeom prst="rect">
            <a:avLst/>
          </a:prstGeom>
          <a:noFill/>
          <a:ln/>
        </p:spPr>
        <p:txBody>
          <a:bodyPr wrap="square" rtlCol="0" anchor="ctr"/>
          <a:lstStyle/>
          <a:p>
            <a:pPr indent="0" marL="0">
              <a:buNone/>
            </a:pPr>
            <a:r>
              <a:rPr lang="en-US" sz="1500" dirty="0">
                <a:solidFill>
                  <a:srgbClr val="FFFFFF"/>
                </a:solidFill>
              </a:rPr>
              <a:t>Add MS Teams as a second notification channel alongside Slack</a:t>
            </a:r>
            <a:endParaRPr lang="en-US" sz="1500" dirty="0"/>
          </a:p>
        </p:txBody>
      </p:sp>
      <p:sp>
        <p:nvSpPr>
          <p:cNvPr id="10" name="Shape 7"/>
          <p:cNvSpPr/>
          <p:nvPr/>
        </p:nvSpPr>
        <p:spPr>
          <a:xfrm>
            <a:off x="640080" y="3639312"/>
            <a:ext cx="128016" cy="128016"/>
          </a:xfrm>
          <a:prstGeom prst="ellipse">
            <a:avLst/>
          </a:prstGeom>
          <a:solidFill>
            <a:srgbClr val="3DDC97"/>
          </a:solidFill>
          <a:ln/>
        </p:spPr>
      </p:sp>
      <p:sp>
        <p:nvSpPr>
          <p:cNvPr id="11" name="Text 8"/>
          <p:cNvSpPr/>
          <p:nvPr/>
        </p:nvSpPr>
        <p:spPr>
          <a:xfrm>
            <a:off x="1005840" y="3474720"/>
            <a:ext cx="9875520" cy="548640"/>
          </a:xfrm>
          <a:prstGeom prst="rect">
            <a:avLst/>
          </a:prstGeom>
          <a:noFill/>
          <a:ln/>
        </p:spPr>
        <p:txBody>
          <a:bodyPr wrap="square" rtlCol="0" anchor="ctr"/>
          <a:lstStyle/>
          <a:p>
            <a:pPr indent="0" marL="0">
              <a:buNone/>
            </a:pPr>
            <a:r>
              <a:rPr lang="en-US" sz="1500" dirty="0">
                <a:solidFill>
                  <a:srgbClr val="FFFFFF"/>
                </a:solidFill>
              </a:rPr>
              <a:t>Replace Google Sheets with Postgres for higher incident volume</a:t>
            </a:r>
            <a:endParaRPr lang="en-US" sz="1500" dirty="0"/>
          </a:p>
        </p:txBody>
      </p:sp>
      <p:sp>
        <p:nvSpPr>
          <p:cNvPr id="12" name="Shape 9"/>
          <p:cNvSpPr/>
          <p:nvPr/>
        </p:nvSpPr>
        <p:spPr>
          <a:xfrm>
            <a:off x="640080" y="4325112"/>
            <a:ext cx="128016" cy="128016"/>
          </a:xfrm>
          <a:prstGeom prst="ellipse">
            <a:avLst/>
          </a:prstGeom>
          <a:solidFill>
            <a:srgbClr val="3DDC97"/>
          </a:solidFill>
          <a:ln/>
        </p:spPr>
      </p:sp>
      <p:sp>
        <p:nvSpPr>
          <p:cNvPr id="13" name="Text 10"/>
          <p:cNvSpPr/>
          <p:nvPr/>
        </p:nvSpPr>
        <p:spPr>
          <a:xfrm>
            <a:off x="1005840" y="4160520"/>
            <a:ext cx="9875520" cy="548640"/>
          </a:xfrm>
          <a:prstGeom prst="rect">
            <a:avLst/>
          </a:prstGeom>
          <a:noFill/>
          <a:ln/>
        </p:spPr>
        <p:txBody>
          <a:bodyPr wrap="square" rtlCol="0" anchor="ctr"/>
          <a:lstStyle/>
          <a:p>
            <a:pPr indent="0" marL="0">
              <a:buNone/>
            </a:pPr>
            <a:r>
              <a:rPr lang="en-US" sz="1500" dirty="0">
                <a:solidFill>
                  <a:srgbClr val="FFFFFF"/>
                </a:solidFill>
              </a:rPr>
              <a:t>Build a Looker Studio live dashboard on top of the incident log</a:t>
            </a:r>
            <a:endParaRPr lang="en-US" sz="1500" dirty="0"/>
          </a:p>
        </p:txBody>
      </p:sp>
      <p:sp>
        <p:nvSpPr>
          <p:cNvPr id="14" name="Shape 11"/>
          <p:cNvSpPr/>
          <p:nvPr/>
        </p:nvSpPr>
        <p:spPr>
          <a:xfrm>
            <a:off x="640080" y="5010912"/>
            <a:ext cx="128016" cy="128016"/>
          </a:xfrm>
          <a:prstGeom prst="ellipse">
            <a:avLst/>
          </a:prstGeom>
          <a:solidFill>
            <a:srgbClr val="3DDC97"/>
          </a:solidFill>
          <a:ln/>
        </p:spPr>
      </p:sp>
      <p:sp>
        <p:nvSpPr>
          <p:cNvPr id="15" name="Text 12"/>
          <p:cNvSpPr/>
          <p:nvPr/>
        </p:nvSpPr>
        <p:spPr>
          <a:xfrm>
            <a:off x="1005840" y="4846320"/>
            <a:ext cx="9875520" cy="548640"/>
          </a:xfrm>
          <a:prstGeom prst="rect">
            <a:avLst/>
          </a:prstGeom>
          <a:noFill/>
          <a:ln/>
        </p:spPr>
        <p:txBody>
          <a:bodyPr wrap="square" rtlCol="0" anchor="ctr"/>
          <a:lstStyle/>
          <a:p>
            <a:pPr indent="0" marL="0">
              <a:buNone/>
            </a:pPr>
            <a:r>
              <a:rPr lang="en-US" sz="1500" dirty="0">
                <a:solidFill>
                  <a:srgbClr val="FFFFFF"/>
                </a:solidFill>
              </a:rPr>
              <a:t>Add feedback loop: analyst corrections retrain the classification prompt</a:t>
            </a:r>
            <a:endParaRPr lang="en-US" sz="1500" dirty="0"/>
          </a:p>
        </p:txBody>
      </p:sp>
      <p:sp>
        <p:nvSpPr>
          <p:cNvPr id="16" name="Shape 13"/>
          <p:cNvSpPr/>
          <p:nvPr/>
        </p:nvSpPr>
        <p:spPr>
          <a:xfrm>
            <a:off x="548640" y="5989320"/>
            <a:ext cx="2743200" cy="0"/>
          </a:xfrm>
          <a:prstGeom prst="line">
            <a:avLst/>
          </a:prstGeom>
          <a:noFill/>
          <a:ln w="25400">
            <a:solidFill>
              <a:srgbClr val="3DDC97"/>
            </a:solidFill>
            <a:prstDash val="solid"/>
          </a:ln>
        </p:spPr>
      </p:sp>
      <p:sp>
        <p:nvSpPr>
          <p:cNvPr id="17" name="Text 14"/>
          <p:cNvSpPr/>
          <p:nvPr/>
        </p:nvSpPr>
        <p:spPr>
          <a:xfrm>
            <a:off x="548640" y="6126480"/>
            <a:ext cx="7315200" cy="457200"/>
          </a:xfrm>
          <a:prstGeom prst="rect">
            <a:avLst/>
          </a:prstGeom>
          <a:noFill/>
          <a:ln/>
        </p:spPr>
        <p:txBody>
          <a:bodyPr wrap="square" rtlCol="0" anchor="ctr"/>
          <a:lstStyle/>
          <a:p>
            <a:pPr indent="0" marL="0">
              <a:buNone/>
            </a:pPr>
            <a:r>
              <a:rPr lang="en-US" sz="1600" i="1" dirty="0">
                <a:solidFill>
                  <a:srgbClr val="9FB3C8"/>
                </a:solidFill>
              </a:rPr>
              <a:t>Thank you — questions welcome.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2026-08-06T05:26:37Z</dcterms:created>
  <dcterms:modified xsi:type="dcterms:W3CDTF">2026-08-06T05:26:37Z</dcterms:modified>
</cp:coreProperties>
</file>